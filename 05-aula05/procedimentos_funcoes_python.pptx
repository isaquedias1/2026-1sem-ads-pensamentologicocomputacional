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3FF"/>
    <a:srgbClr val="FFC3C3"/>
    <a:srgbClr val="FFC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Procedimentos e Funções em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97602"/>
          </a:xfrm>
        </p:spPr>
        <p:txBody>
          <a:bodyPr/>
          <a:lstStyle/>
          <a:p>
            <a:r>
              <a:rPr lang="pt-BR" dirty="0"/>
              <a:t>Aula 05 – </a:t>
            </a:r>
            <a:r>
              <a:rPr lang="pt-BR" b="1" i="1" dirty="0"/>
              <a:t>2026-03-25</a:t>
            </a:r>
            <a:endParaRPr b="1" i="1" dirty="0"/>
          </a:p>
          <a:p>
            <a:r>
              <a:rPr dirty="0"/>
              <a:t>Tema: </a:t>
            </a:r>
            <a:r>
              <a:rPr dirty="0" err="1"/>
              <a:t>Funções</a:t>
            </a:r>
            <a:r>
              <a:rPr dirty="0"/>
              <a:t> e </a:t>
            </a:r>
            <a:r>
              <a:rPr dirty="0" err="1"/>
              <a:t>Modularização</a:t>
            </a:r>
            <a:endParaRPr dirty="0"/>
          </a:p>
          <a:p>
            <a:r>
              <a:rPr dirty="0"/>
              <a:t>Professor: Migu</a:t>
            </a:r>
            <a:r>
              <a:rPr lang="pt-BR" dirty="0"/>
              <a:t>é</a:t>
            </a:r>
            <a:r>
              <a:rPr dirty="0"/>
              <a:t>l Suares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75355"/>
            <a:ext cx="8229600" cy="2450808"/>
          </a:xfrm>
        </p:spPr>
        <p:txBody>
          <a:bodyPr/>
          <a:lstStyle/>
          <a:p>
            <a:r>
              <a:rPr dirty="0" err="1"/>
              <a:t>Criar</a:t>
            </a:r>
            <a:r>
              <a:rPr dirty="0"/>
              <a:t> e chamar </a:t>
            </a:r>
            <a:r>
              <a:rPr dirty="0" err="1"/>
              <a:t>funções</a:t>
            </a:r>
            <a:endParaRPr dirty="0"/>
          </a:p>
          <a:p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modularização</a:t>
            </a:r>
            <a:endParaRPr dirty="0"/>
          </a:p>
          <a:p>
            <a:r>
              <a:rPr dirty="0" err="1"/>
              <a:t>Trabalhar</a:t>
            </a:r>
            <a:r>
              <a:rPr dirty="0"/>
              <a:t> com </a:t>
            </a:r>
            <a:r>
              <a:rPr dirty="0" err="1"/>
              <a:t>parâmetros</a:t>
            </a:r>
            <a:r>
              <a:rPr dirty="0"/>
              <a:t> e </a:t>
            </a:r>
            <a:r>
              <a:rPr dirty="0" err="1"/>
              <a:t>retorno</a:t>
            </a:r>
            <a:endParaRPr dirty="0"/>
          </a:p>
          <a:p>
            <a:r>
              <a:rPr dirty="0" err="1"/>
              <a:t>Diferenciar</a:t>
            </a:r>
            <a:r>
              <a:rPr dirty="0"/>
              <a:t> </a:t>
            </a:r>
            <a:r>
              <a:rPr dirty="0" err="1"/>
              <a:t>procedimentos</a:t>
            </a:r>
            <a:r>
              <a:rPr dirty="0"/>
              <a:t> e </a:t>
            </a:r>
            <a:r>
              <a:rPr dirty="0" err="1"/>
              <a:t>funções</a:t>
            </a: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A98A4A-2EAA-2B02-2FC3-F78A3011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137" y="1136015"/>
            <a:ext cx="4128117" cy="2520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6CC9-0882-29D6-E8F3-8FE26AF2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21DC-0FAB-3C62-7F3A-59DAAF7D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mundo antes das Funções</a:t>
            </a:r>
            <a:endParaRPr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C1C0ED-BCDA-269C-41C4-FFE3EB2BF78E}"/>
              </a:ext>
            </a:extLst>
          </p:cNvPr>
          <p:cNvSpPr txBox="1"/>
          <p:nvPr/>
        </p:nvSpPr>
        <p:spPr>
          <a:xfrm>
            <a:off x="736847" y="1964792"/>
            <a:ext cx="6121153" cy="2932854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"Digite dois números:"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int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(input())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b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int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(input())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soma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"Resultado:"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soma)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96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uma Função?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Bloco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reutilizável</a:t>
            </a:r>
            <a:endParaRPr dirty="0"/>
          </a:p>
          <a:p>
            <a:r>
              <a:rPr dirty="0" err="1"/>
              <a:t>Executa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tarefa</a:t>
            </a:r>
            <a:r>
              <a:rPr dirty="0"/>
              <a:t> </a:t>
            </a:r>
            <a:r>
              <a:rPr dirty="0" err="1"/>
              <a:t>específica</a:t>
            </a:r>
            <a:endParaRPr dirty="0"/>
          </a:p>
          <a:p>
            <a:r>
              <a:rPr dirty="0"/>
              <a:t>Evita </a:t>
            </a:r>
            <a:r>
              <a:rPr dirty="0" err="1"/>
              <a:t>repetição</a:t>
            </a:r>
            <a:r>
              <a:rPr dirty="0"/>
              <a:t> de </a:t>
            </a:r>
            <a:r>
              <a:rPr dirty="0" err="1"/>
              <a:t>código</a:t>
            </a:r>
            <a:endParaRPr lang="pt-BR" dirty="0"/>
          </a:p>
          <a:p>
            <a:r>
              <a:rPr lang="pt-BR" dirty="0"/>
              <a:t>É criada pela palavra reservada </a:t>
            </a:r>
            <a:r>
              <a:rPr lang="pt-BR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</a:t>
            </a:r>
            <a:endParaRPr lang="pt-B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1C4C-F17D-F812-1825-EBA5909D7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3128-1E28-5B44-FA50-E0FD2AFA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6193"/>
          </a:xfrm>
        </p:spPr>
        <p:txBody>
          <a:bodyPr/>
          <a:lstStyle/>
          <a:p>
            <a:r>
              <a:rPr lang="pt-BR" dirty="0"/>
              <a:t>O mundo com Funções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ABC0D2-387D-0999-167D-FAF157F62DE4}"/>
              </a:ext>
            </a:extLst>
          </p:cNvPr>
          <p:cNvSpPr txBox="1"/>
          <p:nvPr/>
        </p:nvSpPr>
        <p:spPr>
          <a:xfrm>
            <a:off x="457200" y="1320415"/>
            <a:ext cx="7674746" cy="4785926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400" b="1" i="1" dirty="0" err="1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ler_numeros</a:t>
            </a:r>
            <a:r>
              <a:rPr lang="pt-BR" sz="14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()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(input(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"Digite o primeiro número: 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b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(input(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"Digite o segundo número: 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a, b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400" b="1" i="1" dirty="0" err="1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calcular_soma</a:t>
            </a:r>
            <a:r>
              <a:rPr lang="pt-BR" sz="14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sz="1400" b="1" i="1" dirty="0" err="1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mostrar_resultado</a:t>
            </a:r>
            <a:r>
              <a:rPr lang="pt-BR" sz="14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(resultado)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"Resultado:"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resultado)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Executando o programa chamando o nome de cada função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a, b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1" i="0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ler_numeros</a:t>
            </a:r>
            <a:r>
              <a:rPr lang="pt-BR" sz="1400" b="1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()</a:t>
            </a:r>
            <a:endParaRPr lang="pt-BR" sz="1400" b="1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resultado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1" i="1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calcular_soma</a:t>
            </a:r>
            <a:r>
              <a:rPr lang="pt-BR" sz="14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endParaRPr lang="pt-BR" sz="14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400" b="1" i="1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mostrar_resultado</a:t>
            </a:r>
            <a:r>
              <a:rPr lang="pt-BR" sz="14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(resultado)</a:t>
            </a:r>
            <a:endParaRPr lang="pt-BR" sz="14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87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Sintaxe de Função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DDEFBF-921A-78BC-CA89-3D7FFF1F2417}"/>
              </a:ext>
            </a:extLst>
          </p:cNvPr>
          <p:cNvSpPr txBox="1"/>
          <p:nvPr/>
        </p:nvSpPr>
        <p:spPr>
          <a:xfrm>
            <a:off x="1944210" y="1910816"/>
            <a:ext cx="5601810" cy="1855636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Declaração de uma função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nome_da_funcao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    # bloco de código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"Olá, mundo!"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Função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34360A-80E2-472B-CA93-44746E23FDD9}"/>
              </a:ext>
            </a:extLst>
          </p:cNvPr>
          <p:cNvSpPr txBox="1"/>
          <p:nvPr/>
        </p:nvSpPr>
        <p:spPr>
          <a:xfrm>
            <a:off x="1211802" y="1550471"/>
            <a:ext cx="7474998" cy="32919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Declaração da função "saudação"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saudacao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"Bem-vindo ao curso de Python!"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Executando a função "saudação"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saudacao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Dividir o programa em partes menores</a:t>
            </a:r>
          </a:p>
          <a:p>
            <a:r>
              <a:t>Melhora organização</a:t>
            </a:r>
          </a:p>
          <a:p>
            <a:r>
              <a:t>Facilita manutenção</a:t>
            </a:r>
          </a:p>
          <a:p>
            <a:r>
              <a:t>Permite reutilização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Modularização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6D8B13-2008-8D18-6CC9-F62306673ED8}"/>
              </a:ext>
            </a:extLst>
          </p:cNvPr>
          <p:cNvSpPr txBox="1"/>
          <p:nvPr/>
        </p:nvSpPr>
        <p:spPr>
          <a:xfrm>
            <a:off x="887767" y="1785256"/>
            <a:ext cx="7075503" cy="3291927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Declaração da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soma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(a, b):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Executando 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resultado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soma(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print(resultado)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Parâmetros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43000"/>
          </a:xfrm>
        </p:spPr>
        <p:txBody>
          <a:bodyPr>
            <a:normAutofit lnSpcReduction="10000"/>
          </a:bodyPr>
          <a:lstStyle/>
          <a:p>
            <a:r>
              <a:rPr dirty="0"/>
              <a:t>Valores </a:t>
            </a:r>
            <a:r>
              <a:rPr dirty="0" err="1"/>
              <a:t>recebidos</a:t>
            </a:r>
            <a:r>
              <a:rPr dirty="0"/>
              <a:t> pela </a:t>
            </a:r>
            <a:r>
              <a:rPr dirty="0" err="1"/>
              <a:t>função</a:t>
            </a:r>
            <a:endParaRPr lang="pt-BR" dirty="0"/>
          </a:p>
          <a:p>
            <a:r>
              <a:rPr lang="pt-BR" dirty="0"/>
              <a:t>São as “Variáveis de Entrada” da função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A06A09-9127-6484-CF4C-BC6DE07D2946}"/>
              </a:ext>
            </a:extLst>
          </p:cNvPr>
          <p:cNvSpPr txBox="1"/>
          <p:nvPr/>
        </p:nvSpPr>
        <p:spPr>
          <a:xfrm>
            <a:off x="328473" y="2743200"/>
            <a:ext cx="7554897" cy="3291927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Declaração da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soma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200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parametro1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2000" b="0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parametro2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parametro1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parametro2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Executando 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resultado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soma(</a:t>
            </a:r>
            <a:r>
              <a:rPr lang="pt-BR" sz="2000" b="1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2000" b="1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print(resultado)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43001"/>
          </a:xfrm>
        </p:spPr>
        <p:txBody>
          <a:bodyPr>
            <a:normAutofit lnSpcReduction="10000"/>
          </a:bodyPr>
          <a:lstStyle/>
          <a:p>
            <a:r>
              <a:rPr dirty="0"/>
              <a:t>Valor </a:t>
            </a:r>
            <a:r>
              <a:rPr dirty="0" err="1"/>
              <a:t>devolvido</a:t>
            </a:r>
            <a:r>
              <a:rPr dirty="0"/>
              <a:t> pela </a:t>
            </a:r>
            <a:r>
              <a:rPr dirty="0" err="1"/>
              <a:t>função</a:t>
            </a:r>
            <a:endParaRPr dirty="0"/>
          </a:p>
          <a:p>
            <a:r>
              <a:rPr dirty="0"/>
              <a:t>Usa a </a:t>
            </a:r>
            <a:r>
              <a:rPr dirty="0" err="1"/>
              <a:t>palavra</a:t>
            </a:r>
            <a:r>
              <a:rPr dirty="0"/>
              <a:t> </a:t>
            </a:r>
            <a:r>
              <a:rPr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CA61B4D-A9BE-5963-28DF-4D43148C7000}"/>
              </a:ext>
            </a:extLst>
          </p:cNvPr>
          <p:cNvSpPr txBox="1"/>
          <p:nvPr/>
        </p:nvSpPr>
        <p:spPr>
          <a:xfrm>
            <a:off x="328473" y="2743200"/>
            <a:ext cx="7554897" cy="3291927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Declaração da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soma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200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parametro1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2000" b="0" i="0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parametro2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2800" b="1" i="1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parametro1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parametro2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Executando 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resultado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soma(</a:t>
            </a:r>
            <a:r>
              <a:rPr lang="pt-BR" sz="2000" b="1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2000" b="1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print(resultado)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Retornos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82EFE8-8563-5673-EC69-035CD1E80145}"/>
              </a:ext>
            </a:extLst>
          </p:cNvPr>
          <p:cNvSpPr txBox="1"/>
          <p:nvPr/>
        </p:nvSpPr>
        <p:spPr>
          <a:xfrm>
            <a:off x="550415" y="1417638"/>
            <a:ext cx="8349449" cy="4728217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Declaração de uma função em </a:t>
            </a:r>
            <a:r>
              <a:rPr lang="pt-BR" b="0" i="0" dirty="0" err="1">
                <a:solidFill>
                  <a:srgbClr val="D81B60"/>
                </a:solidFill>
                <a:effectLst/>
                <a:latin typeface="Roboto Mono" pitchFamily="2" charset="0"/>
              </a:rPr>
              <a:t>python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1" i="1" dirty="0" err="1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9C27B0"/>
                </a:solidFill>
                <a:effectLst/>
                <a:latin typeface="Roboto Mono" pitchFamily="2" charset="0"/>
              </a:rPr>
              <a:t>operacoes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parametro1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parametro2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saida_soma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parametro1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parametro2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saida_produto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parametro1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*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parametro2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1" i="1" dirty="0" err="1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saida_soma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saida_produto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saida1, saida2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operacoes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"Soma:"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saida1)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"Produto:"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saida2)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Procedimentos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40654"/>
          </a:xfrm>
        </p:spPr>
        <p:txBody>
          <a:bodyPr/>
          <a:lstStyle/>
          <a:p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retornam</a:t>
            </a:r>
            <a:r>
              <a:rPr dirty="0"/>
              <a:t> </a:t>
            </a:r>
            <a:r>
              <a:rPr dirty="0" err="1"/>
              <a:t>valores</a:t>
            </a:r>
            <a:endParaRPr dirty="0"/>
          </a:p>
          <a:p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executam</a:t>
            </a:r>
            <a:r>
              <a:rPr dirty="0"/>
              <a:t> </a:t>
            </a:r>
            <a:r>
              <a:rPr dirty="0" err="1"/>
              <a:t>ações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E96235-028B-4966-D554-1CD3AA2654BC}"/>
              </a:ext>
            </a:extLst>
          </p:cNvPr>
          <p:cNvSpPr txBox="1"/>
          <p:nvPr/>
        </p:nvSpPr>
        <p:spPr>
          <a:xfrm>
            <a:off x="457199" y="2858508"/>
            <a:ext cx="6627181" cy="1496564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 função print() é um procedimento porque não retorna valor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"teste"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>
            <a:normAutofit lnSpcReduction="10000"/>
          </a:bodyPr>
          <a:lstStyle/>
          <a:p>
            <a:r>
              <a:rPr dirty="0" err="1"/>
              <a:t>Retornam</a:t>
            </a:r>
            <a:r>
              <a:rPr dirty="0"/>
              <a:t> </a:t>
            </a:r>
            <a:r>
              <a:rPr dirty="0" err="1"/>
              <a:t>valores</a:t>
            </a:r>
            <a:endParaRPr dirty="0"/>
          </a:p>
          <a:p>
            <a:r>
              <a:rPr dirty="0" err="1"/>
              <a:t>Usadas</a:t>
            </a:r>
            <a:r>
              <a:rPr dirty="0"/>
              <a:t> para </a:t>
            </a:r>
            <a:r>
              <a:rPr dirty="0" err="1"/>
              <a:t>cálculos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E778FA-C9A4-9559-C121-75DC1731978E}"/>
              </a:ext>
            </a:extLst>
          </p:cNvPr>
          <p:cNvSpPr txBox="1"/>
          <p:nvPr/>
        </p:nvSpPr>
        <p:spPr>
          <a:xfrm>
            <a:off x="701335" y="2743201"/>
            <a:ext cx="6649375" cy="2573782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1" i="1" dirty="0" err="1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soma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(a, b):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1" i="1" dirty="0" err="1">
                <a:solidFill>
                  <a:srgbClr val="3F51B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Executando a função "soma()"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resultado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soma(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print(resultado)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Usar nomes claros</a:t>
            </a:r>
          </a:p>
          <a:p>
            <a:r>
              <a:t>Funções pequenas</a:t>
            </a:r>
          </a:p>
          <a:p>
            <a:r>
              <a:t>Uma responsabilidade por função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– Fazendo uma calculadora</a:t>
            </a:r>
            <a:br>
              <a:rPr lang="pt-BR" dirty="0"/>
            </a:br>
            <a:r>
              <a:rPr lang="pt-BR" dirty="0"/>
              <a:t>Parte 1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FA30AE1-F1E5-BC06-DB85-9FA1BF1B137D}"/>
              </a:ext>
            </a:extLst>
          </p:cNvPr>
          <p:cNvSpPr txBox="1"/>
          <p:nvPr/>
        </p:nvSpPr>
        <p:spPr>
          <a:xfrm>
            <a:off x="719092" y="1417638"/>
            <a:ext cx="5717219" cy="4728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1" i="1" dirty="0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soma</a:t>
            </a: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1" i="1" dirty="0" err="1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subtracao</a:t>
            </a: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-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1" i="1" dirty="0" err="1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multiplicacao</a:t>
            </a: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*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</a:t>
            </a:r>
            <a:r>
              <a:rPr lang="pt-BR" b="1" i="1" dirty="0" err="1">
                <a:solidFill>
                  <a:srgbClr val="9C27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divisao</a:t>
            </a: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"Erro: divisão por zero!"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return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b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26A4E-3BCB-54F3-9024-9A7E8AE7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6BB0-3894-EF11-9A15-6C8EC13D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– Fazendo uma calculadora</a:t>
            </a:r>
            <a:br>
              <a:rPr lang="pt-BR" dirty="0"/>
            </a:br>
            <a:r>
              <a:rPr lang="pt-BR" dirty="0"/>
              <a:t>Parte 2</a:t>
            </a:r>
            <a:endParaRPr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92D030-5E20-AB63-FE9A-97EBD8532B7B}"/>
              </a:ext>
            </a:extLst>
          </p:cNvPr>
          <p:cNvSpPr txBox="1"/>
          <p:nvPr/>
        </p:nvSpPr>
        <p:spPr>
          <a:xfrm>
            <a:off x="585926" y="1597951"/>
            <a:ext cx="8091996" cy="47089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4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calculadora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():</a:t>
            </a:r>
          </a:p>
          <a:p>
            <a:pPr algn="l">
              <a:buNone/>
            </a:pP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"=== CALCULADORA ==="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a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float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(input(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"Digite o primeiro número: 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b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float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(input(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"Digite o segundo número: 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1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\</a:t>
            </a:r>
            <a:r>
              <a:rPr lang="pt-BR" sz="11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n</a:t>
            </a:r>
            <a:r>
              <a:rPr lang="pt-BR" sz="11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Escolha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a operação:"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"1 - Soma"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"2 - Subtração"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"3 - Multiplicação"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"4 - Divisão"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opcao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input(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"Opção: 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1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opcao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"1"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resultado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soma(a, b)</a:t>
            </a:r>
            <a:endParaRPr lang="pt-BR" sz="11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1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opcao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"2"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resultado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1" i="1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subtracao</a:t>
            </a:r>
            <a:r>
              <a:rPr lang="pt-BR" sz="11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endParaRPr lang="pt-BR" sz="11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1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opcao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"3"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resultado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1" i="1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multiplicacao</a:t>
            </a:r>
            <a:r>
              <a:rPr lang="pt-BR" sz="11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endParaRPr lang="pt-BR" sz="11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1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elif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opcao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"4"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resultado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100" b="1" i="1" dirty="0" err="1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divisao</a:t>
            </a:r>
            <a:r>
              <a:rPr lang="pt-BR" sz="1100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(a, b)</a:t>
            </a:r>
            <a:endParaRPr lang="pt-BR" sz="1100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1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else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resultado </a:t>
            </a:r>
            <a:r>
              <a:rPr lang="pt-BR" sz="11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"Opção inválida!"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1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"Resultado:"</a:t>
            </a:r>
            <a:r>
              <a:rPr lang="pt-BR" sz="11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resultado)</a:t>
            </a:r>
            <a:endParaRPr lang="pt-BR" sz="11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275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D393-4F5E-3E92-B8F7-C09833FD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DEF1-1264-F8AB-2DD6-F1846625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 – Fazendo uma calculadora</a:t>
            </a:r>
            <a:br>
              <a:rPr lang="pt-BR" dirty="0"/>
            </a:br>
            <a:r>
              <a:rPr lang="pt-BR" dirty="0"/>
              <a:t>Parte 3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7D2E7E5-1FA3-5462-D28E-1C31AAE6F041}"/>
              </a:ext>
            </a:extLst>
          </p:cNvPr>
          <p:cNvSpPr txBox="1"/>
          <p:nvPr/>
        </p:nvSpPr>
        <p:spPr>
          <a:xfrm>
            <a:off x="785672" y="2160089"/>
            <a:ext cx="4572000" cy="778418"/>
          </a:xfrm>
          <a:prstGeom prst="rect">
            <a:avLst/>
          </a:prstGeom>
          <a:solidFill>
            <a:srgbClr val="C5D3FF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Executa a calculadora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1" i="1" dirty="0">
                <a:solidFill>
                  <a:srgbClr val="37474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Mono" pitchFamily="2" charset="0"/>
              </a:rPr>
              <a:t>calculadora()</a:t>
            </a:r>
            <a:endParaRPr lang="pt-BR" b="1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414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799</Words>
  <Application>Microsoft Office PowerPoint</Application>
  <PresentationFormat>Apresentação na tela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Calibri</vt:lpstr>
      <vt:lpstr>Roboto Mono</vt:lpstr>
      <vt:lpstr>Office Theme</vt:lpstr>
      <vt:lpstr>Procedimentos e Funções em Python</vt:lpstr>
      <vt:lpstr>Objetivos da Aula</vt:lpstr>
      <vt:lpstr>O mundo antes das Funções</vt:lpstr>
      <vt:lpstr>O que é uma Função?</vt:lpstr>
      <vt:lpstr>O mundo com Funções</vt:lpstr>
      <vt:lpstr>Sintaxe de Função</vt:lpstr>
      <vt:lpstr>Exemplo de Função</vt:lpstr>
      <vt:lpstr>Modularização</vt:lpstr>
      <vt:lpstr>Exemplo Modularização</vt:lpstr>
      <vt:lpstr>Parâmetros</vt:lpstr>
      <vt:lpstr>Retorno</vt:lpstr>
      <vt:lpstr>Múltiplos Retornos</vt:lpstr>
      <vt:lpstr>Procedimentos</vt:lpstr>
      <vt:lpstr>Funções</vt:lpstr>
      <vt:lpstr>Boas Práticas</vt:lpstr>
      <vt:lpstr>Exemplo – Fazendo uma calculadora Parte 1</vt:lpstr>
      <vt:lpstr>Exemplo – Fazendo uma calculadora Parte 2</vt:lpstr>
      <vt:lpstr>Exemplo – Fazendo uma calculadora Parte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PENTEADO</cp:lastModifiedBy>
  <cp:revision>5</cp:revision>
  <dcterms:created xsi:type="dcterms:W3CDTF">2013-01-27T09:14:16Z</dcterms:created>
  <dcterms:modified xsi:type="dcterms:W3CDTF">2026-03-25T18:46:15Z</dcterms:modified>
  <cp:category/>
</cp:coreProperties>
</file>
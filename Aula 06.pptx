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  <p:sldId id="260" r:id="rId6"/>
    <p:sldId id="261" r:id="rId7"/>
    <p:sldId id="262" r:id="rId8"/>
    <p:sldId id="263" r:id="rId9"/>
    <p:sldId id="265" r:id="rId10"/>
    <p:sldId id="264" r:id="rId11"/>
    <p:sldId id="266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766FB3-16ED-C5CB-A0E3-A1570BE84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F5FF5DF-6378-DB42-194D-72034752BF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253696E-D7B4-BDF8-547C-47FF33926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AC5BF9A-80F1-1AA9-C053-AD2FFFA98D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08F1DD-4FBB-0FF6-0D12-33F7835F9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0761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BB0B6C-D566-8C02-B5BD-3CFCF825B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A5F4B4-D14A-C206-3EAA-BBEBAC00E6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8E0DF2F-57B4-43FD-0F2E-FC26562BB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1D1D0E5-CC5E-883A-37DD-832A85E46C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FC91384-377C-A069-2D37-FDA59280C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37906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1C3F0-708D-752F-2776-F134DB41DC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C54B39D-9350-4569-C878-6306C38364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24BC00-7787-1E38-EDDF-269FC56B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64BD74D-C4D8-565C-B0D9-1B55AA9A8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1F43B29-A269-89E9-1B65-375BA6587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6612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D7DCAB-5239-BCFD-2F80-143A332D2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7DFF5E7-F447-8BC7-8D60-782DFDBE1F4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90001-F8E6-98A7-ABC5-1E805A482A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8D7C3CA-6D81-3101-C250-65F9AF636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FBF5704-47A6-0C4D-B4B8-C1872D303A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A6C36C8-4CEA-A03F-19F8-AC7C8CDF3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4782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EF6250-D4CD-EDAE-5919-4EDE5EFF2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68BB1A4-CB9C-C435-0F78-4FB50FEE61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588450F-B00A-F7AA-46B9-4EACBC9916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8307EEB0-12D5-F91A-80DA-534754AEE1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7998232-DF43-5438-D44A-5DF220EFCC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30F6BD1-6D42-8F95-84AE-75CC2EEFB6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6C28ABA9-8145-A8D3-90F3-4ACB48E169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F389425-710C-5F28-F451-279CD1B8DB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333443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C37C8BB-A2C9-82F8-AF65-2556C72AE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C9596481-7747-042F-A7A9-C66F61904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9C9B1EB-43F8-F4E2-D889-8D689C0A9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926ABF4-DADD-6DBF-588C-64FC4DF19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6146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C745CE04-9DA3-2E95-78EF-01ACA7769E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56F7879-3EEB-6DB8-14F1-13E89FA05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9B1F912-B6AB-9BC7-C924-A5C010626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967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7E2854-69E9-504E-8E3F-3279468FF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48A642-6C73-20CF-FDD3-92D0F2C5BC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97584B-0430-EE57-87BE-DCB3C1179F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02E7800-BC81-70EF-32B0-676EE0E4E8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3C12C64-ADA2-68AE-B1E0-5AF5A24869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7618E09-F203-936A-AA20-ABF749218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26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55D23-598A-8775-D797-F0C069D69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5F2EF60-10B6-865C-9780-BB2A2651A2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F183A7D-568D-8FE6-0508-0D42A540CC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016A91-4D59-3CBD-46BF-C449C43B40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5D862F-383D-952F-1EE8-599842F3F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0D60A7E-C1F8-6C4A-CB87-3AF9F41BD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3587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4DA36F-7115-0CC3-EDD0-9A7E592B6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50274340-A0A0-BF60-30EC-725051609F4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5F5BC7C-753B-AC0C-B3E1-75FD3D2AD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69E588-6684-E9C9-12C8-AFBACC6701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FA1E4B-C4BE-F56A-EA49-3BD59ADC3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191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DF5FD5-4EFC-3EA9-F40B-058ED82C19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FB7C99-9CF7-06CE-958E-A5C429223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70CE6B7-2588-818C-9D46-49FD5BA9C0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04B2AE8-5B43-DA24-6779-673974398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7C85ED2-048A-DD33-3E71-B8C033013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771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B356855-9813-0D4A-567E-73D3CCB8E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DE5099-C1CD-2BAC-47A9-473817A993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F337A66-6663-74F0-78E4-71226B17697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8B946-2B74-4A25-A991-D91986269CF7}" type="datetimeFigureOut">
              <a:rPr lang="pt-BR" smtClean="0"/>
              <a:t>06/04/2026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E2A050-1683-E03A-B214-8BC2F1EAB0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D7FCA9-894A-8B81-01E3-0DC75424CB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71B9A-5925-4E0E-8E1D-2E1BB26F85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21565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2E25C-2BAF-DB47-8DA2-7F80FF2D3F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Aula 07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C145945-0E35-1151-1DFE-17AEE5F13F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98233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0EE44-6E6F-A8CB-A493-7289BDD9D1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E3F2FF-6D6D-43E4-667C-9F284AA0EE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979" y="406400"/>
            <a:ext cx="9144000" cy="907495"/>
          </a:xfrm>
        </p:spPr>
        <p:txBody>
          <a:bodyPr>
            <a:normAutofit fontScale="90000"/>
          </a:bodyPr>
          <a:lstStyle/>
          <a:p>
            <a:r>
              <a:rPr lang="pt-BR" dirty="0"/>
              <a:t>Listas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2603290-41DC-C7BE-8B68-ADA89D16BD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20427"/>
            <a:ext cx="9144000" cy="3837373"/>
          </a:xfrm>
        </p:spPr>
        <p:txBody>
          <a:bodyPr/>
          <a:lstStyle/>
          <a:p>
            <a:pPr algn="l"/>
            <a:r>
              <a:rPr lang="pt-BR" dirty="0"/>
              <a:t>Uma </a:t>
            </a:r>
            <a:r>
              <a:rPr lang="pt-BR" b="1" dirty="0"/>
              <a:t>lista (</a:t>
            </a:r>
            <a:r>
              <a:rPr lang="pt-BR" b="1" dirty="0" err="1"/>
              <a:t>list</a:t>
            </a:r>
            <a:r>
              <a:rPr lang="pt-BR" b="1" dirty="0"/>
              <a:t>)</a:t>
            </a:r>
            <a:r>
              <a:rPr lang="pt-BR" dirty="0"/>
              <a:t> é uma </a:t>
            </a:r>
            <a:r>
              <a:rPr lang="pt-BR" b="1" dirty="0"/>
              <a:t>estrutura de dados ordenada, mutável e indexada</a:t>
            </a:r>
            <a:r>
              <a:rPr lang="pt-BR" dirty="0"/>
              <a:t>, capaz de armazenar </a:t>
            </a:r>
            <a:r>
              <a:rPr lang="pt-BR" b="1" dirty="0"/>
              <a:t>múltiplos elementos em uma única variável. </a:t>
            </a:r>
            <a:r>
              <a:rPr lang="pt-BR" dirty="0"/>
              <a:t>Ela é usada quando você precisa: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Guardar vários valores em sequência;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Iterar sobre elementos;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Modificar dinamicamente os dados;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Representar estruturas como filas, pilhas, tabelas, </a:t>
            </a:r>
            <a:r>
              <a:rPr lang="pt-BR" dirty="0" err="1"/>
              <a:t>etc</a:t>
            </a:r>
            <a:r>
              <a:rPr lang="pt-BR" dirty="0"/>
              <a:t>;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3657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E58E1B-F9A8-F22A-53A6-41AD09078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>
            <a:extLst>
              <a:ext uri="{FF2B5EF4-FFF2-40B4-BE49-F238E27FC236}">
                <a16:creationId xmlns:a16="http://schemas.microsoft.com/office/drawing/2014/main" id="{AEE2367B-E17B-E9AA-8508-5C741AA74DDD}"/>
              </a:ext>
            </a:extLst>
          </p:cNvPr>
          <p:cNvSpPr txBox="1"/>
          <p:nvPr/>
        </p:nvSpPr>
        <p:spPr>
          <a:xfrm>
            <a:off x="170895" y="610384"/>
            <a:ext cx="5439792" cy="544636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Criando variáveis simples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aluno0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"Ana"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aluno1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"Bruno"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aluno2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"Carlos"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"Adicionando" um novo aluno 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(precisamos criar nova variável 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aluno3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"Daniela"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Acessando o dado 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"O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primeiro aluno é: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aluno0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Exibindo todos (nomeando um por um)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"A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lista completa: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aluno0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aluno1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aluno2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,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aluno3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1D236BA8-21AB-1FDA-78F5-1C1CAC45BBF6}"/>
              </a:ext>
            </a:extLst>
          </p:cNvPr>
          <p:cNvSpPr txBox="1"/>
          <p:nvPr/>
        </p:nvSpPr>
        <p:spPr>
          <a:xfrm>
            <a:off x="5818572" y="610383"/>
            <a:ext cx="5970973" cy="321113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Memória RAM (início do programa)</a:t>
            </a:r>
          </a:p>
          <a:p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+------------+  +------------+  +------------+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|   "Ana"    |  |   "Bruno"  |  |  "Carlos"  |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+------------+  +------------+  +------------+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^                ^              ^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aluno0           aluno1         aluno2</a:t>
            </a: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Memória RAM (Estado Final)</a:t>
            </a:r>
          </a:p>
          <a:p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+---------+   +---------+   +---------+   +---------+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|  "Ana"  |   | "Bruno" |   |"Carlos" |   |"Daniela"|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+---------+   +---------+   +---------+   +---------+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   |             |             |             |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aluno0        aluno1        aluno2        aluno3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9FB8166-1775-9AA5-A644-82219F0FD98E}"/>
              </a:ext>
            </a:extLst>
          </p:cNvPr>
          <p:cNvSpPr txBox="1"/>
          <p:nvPr/>
        </p:nvSpPr>
        <p:spPr>
          <a:xfrm>
            <a:off x="5818572" y="3917026"/>
            <a:ext cx="6094520" cy="185563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Saída na tela</a:t>
            </a:r>
          </a:p>
          <a:p>
            <a:pPr algn="l">
              <a:lnSpc>
                <a:spcPts val="2813"/>
              </a:lnSpc>
              <a:buNone/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O primeiro aluno é: Ana</a:t>
            </a:r>
          </a:p>
          <a:p>
            <a:pPr algn="l">
              <a:lnSpc>
                <a:spcPts val="2813"/>
              </a:lnSpc>
              <a:buNone/>
            </a:pPr>
            <a:endParaRPr lang="pt-BR" sz="1800" dirty="0">
              <a:solidFill>
                <a:srgbClr val="000000"/>
              </a:solidFill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A lista completa: Ana, Bruno, Carlos, Daniela</a:t>
            </a:r>
          </a:p>
        </p:txBody>
      </p:sp>
    </p:spTree>
    <p:extLst>
      <p:ext uri="{BB962C8B-B14F-4D97-AF65-F5344CB8AC3E}">
        <p14:creationId xmlns:p14="http://schemas.microsoft.com/office/powerpoint/2010/main" val="20354012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F1F32-0EE4-7421-365E-FF831CA21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D148BD0F-04E9-620A-B7F6-3096B98D3750}"/>
              </a:ext>
            </a:extLst>
          </p:cNvPr>
          <p:cNvSpPr txBox="1"/>
          <p:nvPr/>
        </p:nvSpPr>
        <p:spPr>
          <a:xfrm>
            <a:off x="5818572" y="610383"/>
            <a:ext cx="5970973" cy="32521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Memória RAM (início do programa)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+-------------------------------------+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alunos  |   [0]    |   [1]    |   [2]    |... |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|     |----------|----------|----------|----|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+---&gt; |  "Ana"   | "Bruno"  | "Carlos" |    |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+-------------------------------------+</a:t>
            </a:r>
          </a:p>
          <a:p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r>
              <a:rPr lang="pt-BR" sz="1400" dirty="0">
                <a:solidFill>
                  <a:srgbClr val="000000"/>
                </a:solidFill>
                <a:latin typeface="Roboto Mono" pitchFamily="2" charset="0"/>
              </a:rPr>
              <a:t>-- Memória RAM (Estado Final)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      +------------------------------------------------+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alunos  |   [0]    |   [1]    |   [2]    |   [3]    |... |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|     |----------|----------|----------|----------|----|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+---&gt; |  "Ana"   | "Bruno"  | "Carlos" |"Daniela" |    |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      +------------------------------------------------+</a:t>
            </a:r>
          </a:p>
          <a:p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C7C8A80-A2FE-B2DA-9A95-25F1E096A154}"/>
              </a:ext>
            </a:extLst>
          </p:cNvPr>
          <p:cNvSpPr txBox="1"/>
          <p:nvPr/>
        </p:nvSpPr>
        <p:spPr>
          <a:xfrm>
            <a:off x="5818572" y="3917026"/>
            <a:ext cx="6094520" cy="185563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Saída na tela</a:t>
            </a:r>
          </a:p>
          <a:p>
            <a:pPr algn="l">
              <a:lnSpc>
                <a:spcPts val="2813"/>
              </a:lnSpc>
              <a:buNone/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O primeiro aluno é: Ana</a:t>
            </a:r>
          </a:p>
          <a:p>
            <a:pPr algn="l">
              <a:lnSpc>
                <a:spcPts val="2813"/>
              </a:lnSpc>
              <a:buNone/>
            </a:pPr>
            <a:endParaRPr lang="pt-BR" sz="1800" dirty="0">
              <a:solidFill>
                <a:srgbClr val="000000"/>
              </a:solidFill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</a:t>
            </a:r>
            <a:r>
              <a:rPr lang="pt-BR" sz="18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A lista completa: Ana, Bruno, Carlos, Daniela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E0FDE94-7341-C3F4-6569-16C3E594E3AB}"/>
              </a:ext>
            </a:extLst>
          </p:cNvPr>
          <p:cNvSpPr txBox="1"/>
          <p:nvPr/>
        </p:nvSpPr>
        <p:spPr>
          <a:xfrm>
            <a:off x="0" y="610383"/>
            <a:ext cx="5726097" cy="508087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Criando uma lista de alunos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alunos </a:t>
            </a:r>
            <a:r>
              <a:rPr lang="pt-BR" sz="16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"Bruno"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"Carlos"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D81B6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Adicionando um novo aluno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alunos.append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(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"Daniela"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Acessando pelo índice </a:t>
            </a:r>
          </a:p>
          <a:p>
            <a:pPr algn="l">
              <a:lnSpc>
                <a:spcPts val="2813"/>
              </a:lnSpc>
              <a:buNone/>
            </a:pPr>
            <a:r>
              <a:rPr lang="pt-BR" sz="1600" dirty="0">
                <a:solidFill>
                  <a:srgbClr val="D81B60"/>
                </a:solidFill>
                <a:latin typeface="Roboto Mono" pitchFamily="2" charset="0"/>
              </a:rPr>
              <a:t>#</a:t>
            </a:r>
            <a:r>
              <a:rPr lang="pt-BR" sz="16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(começa na posição ZERO)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6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6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"O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primeiro aluno é: 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alunos[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dirty="0">
              <a:solidFill>
                <a:srgbClr val="37474F"/>
              </a:solidFill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6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6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"A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lista completa: 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alunos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83769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C742F-71D9-5AEE-8C48-8014F18405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DB05D-6BDC-B099-ED73-0481D9EBB3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979" y="406400"/>
            <a:ext cx="9144000" cy="907495"/>
          </a:xfrm>
        </p:spPr>
        <p:txBody>
          <a:bodyPr>
            <a:normAutofit fontScale="90000"/>
          </a:bodyPr>
          <a:lstStyle/>
          <a:p>
            <a:r>
              <a:rPr lang="pt-BR" dirty="0"/>
              <a:t>Dicionários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AB3E46-8B5D-705A-B673-E1E30A3E17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20427"/>
            <a:ext cx="9144000" cy="3837373"/>
          </a:xfrm>
        </p:spPr>
        <p:txBody>
          <a:bodyPr/>
          <a:lstStyle/>
          <a:p>
            <a:pPr algn="l"/>
            <a:r>
              <a:rPr lang="pt-BR" dirty="0"/>
              <a:t>O dicionário serve para </a:t>
            </a:r>
            <a:r>
              <a:rPr lang="pt-BR" b="1" dirty="0"/>
              <a:t>mapear informações</a:t>
            </a:r>
            <a:r>
              <a:rPr lang="pt-BR" dirty="0"/>
              <a:t>, ou seja, </a:t>
            </a:r>
            <a:r>
              <a:rPr lang="pt-BR" b="1" dirty="0"/>
              <a:t>associar uma chave a um valor</a:t>
            </a:r>
            <a:r>
              <a:rPr lang="pt-BR" dirty="0"/>
              <a:t>. </a:t>
            </a:r>
          </a:p>
          <a:p>
            <a:pPr algn="l"/>
            <a:r>
              <a:rPr lang="pt-BR" dirty="0"/>
              <a:t>É ideal quando você precisa representar dados com </a:t>
            </a:r>
            <a:r>
              <a:rPr lang="pt-BR" b="1" dirty="0"/>
              <a:t>significado semântico</a:t>
            </a:r>
            <a:r>
              <a:rPr lang="pt-BR" dirty="0"/>
              <a:t>, como: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nome → valor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atributo → conteúdo 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pt-BR" dirty="0"/>
              <a:t>identificador → objeto</a:t>
            </a:r>
          </a:p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93907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01E1CD-5D78-0AE9-79C3-EB2FB4D89C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9590FD31-BDBA-5ECC-EE22-291026F9D6C8}"/>
              </a:ext>
            </a:extLst>
          </p:cNvPr>
          <p:cNvSpPr txBox="1"/>
          <p:nvPr/>
        </p:nvSpPr>
        <p:spPr>
          <a:xfrm>
            <a:off x="5818572" y="610383"/>
            <a:ext cx="5970973" cy="17748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Memória RAM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+------------+  +-----------------------+  +------------+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|    101     |  |  "Teclado Mecânico"   |  |   150.00   |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+------------+  +-----------------------+  +------------+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    ^                    ^                       ^</a:t>
            </a:r>
          </a:p>
          <a:p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</a:t>
            </a:r>
            <a:r>
              <a:rPr lang="pt-BR" sz="1200" dirty="0" err="1">
                <a:solidFill>
                  <a:srgbClr val="000000"/>
                </a:solidFill>
                <a:latin typeface="Roboto Mono" pitchFamily="2" charset="0"/>
              </a:rPr>
              <a:t>produto_id</a:t>
            </a:r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       </a:t>
            </a:r>
            <a:r>
              <a:rPr lang="pt-BR" sz="1200" dirty="0" err="1">
                <a:solidFill>
                  <a:srgbClr val="000000"/>
                </a:solidFill>
                <a:latin typeface="Roboto Mono" pitchFamily="2" charset="0"/>
              </a:rPr>
              <a:t>produto_nome</a:t>
            </a:r>
            <a:r>
              <a:rPr lang="pt-BR" sz="1200" dirty="0">
                <a:solidFill>
                  <a:srgbClr val="000000"/>
                </a:solidFill>
                <a:latin typeface="Roboto Mono" pitchFamily="2" charset="0"/>
              </a:rPr>
              <a:t>          </a:t>
            </a:r>
            <a:r>
              <a:rPr lang="pt-BR" sz="1200" dirty="0" err="1">
                <a:solidFill>
                  <a:srgbClr val="000000"/>
                </a:solidFill>
                <a:latin typeface="Roboto Mono" pitchFamily="2" charset="0"/>
              </a:rPr>
              <a:t>produto_preco</a:t>
            </a:r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FCC2727-3478-46A8-879F-4F80261D770A}"/>
              </a:ext>
            </a:extLst>
          </p:cNvPr>
          <p:cNvSpPr txBox="1"/>
          <p:nvPr/>
        </p:nvSpPr>
        <p:spPr>
          <a:xfrm>
            <a:off x="5818572" y="3917026"/>
            <a:ext cx="6094520" cy="113749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Saída na tela</a:t>
            </a:r>
          </a:p>
          <a:p>
            <a:pPr algn="l">
              <a:lnSpc>
                <a:spcPts val="2813"/>
              </a:lnSpc>
              <a:buNone/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Produto: Teclado Mecânico</a:t>
            </a:r>
          </a:p>
          <a:p>
            <a:pPr algn="l">
              <a:lnSpc>
                <a:spcPts val="2813"/>
              </a:lnSpc>
              <a:buNone/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</a:t>
            </a:r>
            <a:r>
              <a:rPr lang="pt-BR" dirty="0">
                <a:solidFill>
                  <a:srgbClr val="000000"/>
                </a:solidFill>
                <a:latin typeface="Roboto Mono" pitchFamily="2" charset="0"/>
              </a:rPr>
              <a:t>Preço: 150,00</a:t>
            </a:r>
            <a:endParaRPr lang="pt-BR" sz="1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30F219C-5EB6-0258-6D73-6BAF9B1E8970}"/>
              </a:ext>
            </a:extLst>
          </p:cNvPr>
          <p:cNvSpPr txBox="1"/>
          <p:nvPr/>
        </p:nvSpPr>
        <p:spPr>
          <a:xfrm>
            <a:off x="0" y="610383"/>
            <a:ext cx="5626963" cy="4369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--- MODO: VARIÁVEIS SIMPLES</a:t>
            </a: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cadastro de um produto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produto_id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101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produto_nome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"Teclado Mecânico"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produto_preco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 150.00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Acessando a informação </a:t>
            </a:r>
          </a:p>
          <a:p>
            <a:pPr algn="l">
              <a:lnSpc>
                <a:spcPts val="2813"/>
              </a:lnSpc>
              <a:buNone/>
            </a:pPr>
            <a:r>
              <a:rPr lang="pt-BR" dirty="0">
                <a:solidFill>
                  <a:srgbClr val="D81B60"/>
                </a:solidFill>
                <a:latin typeface="Roboto Mono" pitchFamily="2" charset="0"/>
              </a:rPr>
              <a:t># </a:t>
            </a: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pelo nome da variável específica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"Produto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produto_nome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"Preço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R$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produto_preco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89807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CD5957-F4FB-0FC7-8ED9-DEC97434E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17C7532A-2EEA-C216-8DB1-9A0021A913BC}"/>
              </a:ext>
            </a:extLst>
          </p:cNvPr>
          <p:cNvSpPr txBox="1"/>
          <p:nvPr/>
        </p:nvSpPr>
        <p:spPr>
          <a:xfrm>
            <a:off x="5818572" y="610383"/>
            <a:ext cx="5970973" cy="23596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Memória RAM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PRODUTO -- +---------------------------------------+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  | Chave         | Valor                 |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  |---------------|-----------------------|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  | "id"          | 101                   |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  | "nome"        | "Teclado Mecânico"    |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  | "</a:t>
            </a:r>
            <a:r>
              <a:rPr lang="pt-BR" sz="1400" b="0" i="0" dirty="0" err="1">
                <a:solidFill>
                  <a:srgbClr val="000000"/>
                </a:solidFill>
                <a:effectLst/>
                <a:latin typeface="Roboto Mono" pitchFamily="2" charset="0"/>
              </a:rPr>
              <a:t>preco</a:t>
            </a:r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"       | 150.00                |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  +---------------------------------------+</a:t>
            </a:r>
          </a:p>
          <a:p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00708EAD-7E1A-BA9F-803C-9A372A7384C4}"/>
              </a:ext>
            </a:extLst>
          </p:cNvPr>
          <p:cNvSpPr txBox="1"/>
          <p:nvPr/>
        </p:nvSpPr>
        <p:spPr>
          <a:xfrm>
            <a:off x="5818572" y="3475608"/>
            <a:ext cx="6094520" cy="113749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Saída na tela</a:t>
            </a:r>
          </a:p>
          <a:p>
            <a:pPr algn="l">
              <a:lnSpc>
                <a:spcPts val="2813"/>
              </a:lnSpc>
              <a:buNone/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Produto: Teclado Mecânico</a:t>
            </a:r>
          </a:p>
          <a:p>
            <a:pPr algn="l">
              <a:lnSpc>
                <a:spcPts val="2813"/>
              </a:lnSpc>
              <a:buNone/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</a:t>
            </a:r>
            <a:r>
              <a:rPr lang="pt-BR" dirty="0">
                <a:solidFill>
                  <a:srgbClr val="000000"/>
                </a:solidFill>
                <a:latin typeface="Roboto Mono" pitchFamily="2" charset="0"/>
              </a:rPr>
              <a:t>Preço: 150,00</a:t>
            </a:r>
            <a:endParaRPr lang="pt-BR" sz="1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D085ADA-FBF5-D419-5B27-1C28630ED6E2}"/>
              </a:ext>
            </a:extLst>
          </p:cNvPr>
          <p:cNvSpPr txBox="1"/>
          <p:nvPr/>
        </p:nvSpPr>
        <p:spPr>
          <a:xfrm>
            <a:off x="144262" y="610383"/>
            <a:ext cx="5599590" cy="436914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Variável do tipo “Dicionário”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produto </a:t>
            </a:r>
            <a:r>
              <a:rPr lang="pt-BR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{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"id“   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101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"nome“ 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"Teclado Mecânico"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   "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preco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: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150.00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}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Acessando a informação pela chave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"Produto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produto[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'nome'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"Preço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R$ 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produto[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preco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'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r>
              <a:rPr lang="pt-BR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</a:p>
          <a:p>
            <a:pPr algn="l">
              <a:lnSpc>
                <a:spcPts val="2813"/>
              </a:lnSpc>
              <a:buNone/>
            </a:pPr>
            <a:endParaRPr lang="pt-BR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859745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414A7-7FD9-DC1E-B4E5-DDA0E07E7A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9BDF57-73EE-AB93-3775-7B7E67036A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979" y="406400"/>
            <a:ext cx="9144000" cy="907495"/>
          </a:xfrm>
        </p:spPr>
        <p:txBody>
          <a:bodyPr>
            <a:normAutofit fontScale="90000"/>
          </a:bodyPr>
          <a:lstStyle/>
          <a:p>
            <a:r>
              <a:rPr lang="pt-BR" dirty="0"/>
              <a:t>Tuplas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4B6F186-7B1B-6417-B16F-C666F11C6D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20427"/>
            <a:ext cx="9144000" cy="3837373"/>
          </a:xfrm>
        </p:spPr>
        <p:txBody>
          <a:bodyPr/>
          <a:lstStyle/>
          <a:p>
            <a:pPr algn="l"/>
            <a:r>
              <a:rPr lang="pt-BR" dirty="0"/>
              <a:t>O tipo </a:t>
            </a:r>
            <a:r>
              <a:rPr lang="pt-BR" b="1" dirty="0" err="1"/>
              <a:t>tuple</a:t>
            </a:r>
            <a:r>
              <a:rPr lang="pt-BR" b="1" dirty="0"/>
              <a:t> (tupla)</a:t>
            </a:r>
            <a:r>
              <a:rPr lang="pt-BR" dirty="0"/>
              <a:t> em Python é uma </a:t>
            </a:r>
            <a:r>
              <a:rPr lang="pt-BR" b="1" dirty="0"/>
              <a:t>estrutura de dados ordenada, imutável e indexada</a:t>
            </a:r>
            <a:r>
              <a:rPr lang="pt-BR" dirty="0"/>
              <a:t>, utilizada para armazenar </a:t>
            </a:r>
            <a:r>
              <a:rPr lang="pt-BR" b="1" dirty="0"/>
              <a:t>uma coleção de elementos</a:t>
            </a:r>
            <a:r>
              <a:rPr lang="pt-BR" dirty="0"/>
              <a:t>. </a:t>
            </a:r>
          </a:p>
          <a:p>
            <a:pPr algn="l"/>
            <a:r>
              <a:rPr lang="pt-BR" dirty="0"/>
              <a:t>Diferente da lista (</a:t>
            </a:r>
            <a:r>
              <a:rPr lang="pt-BR" dirty="0" err="1"/>
              <a:t>list</a:t>
            </a:r>
            <a:r>
              <a:rPr lang="pt-BR" dirty="0"/>
              <a:t>), a tupla </a:t>
            </a:r>
            <a:r>
              <a:rPr lang="pt-BR" b="1" dirty="0"/>
              <a:t>não pode ser alterada após sua criação</a:t>
            </a:r>
            <a:r>
              <a:rPr lang="pt-BR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57597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99C3B1-487B-566A-1070-1C89DC4C2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33111C3B-9534-D0F7-A124-1229CBAE1822}"/>
              </a:ext>
            </a:extLst>
          </p:cNvPr>
          <p:cNvSpPr txBox="1"/>
          <p:nvPr/>
        </p:nvSpPr>
        <p:spPr>
          <a:xfrm>
            <a:off x="5818572" y="610383"/>
            <a:ext cx="6192915" cy="195951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813"/>
              </a:lnSpc>
            </a:pPr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Memória RAM -- 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Variável tipo TUPLA</a:t>
            </a:r>
          </a:p>
          <a:p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COORDENADAS -- +-----------+-----------+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      |   -23.5   |   -46.6   | &lt;--- TENTAR MUDAR = Erro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      +-----------+-----------+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              (Tamanho Fixo e Imutável) </a:t>
            </a:r>
          </a:p>
          <a:p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8A0423B-D1B4-FD71-52DB-94B999345D3E}"/>
              </a:ext>
            </a:extLst>
          </p:cNvPr>
          <p:cNvSpPr txBox="1"/>
          <p:nvPr/>
        </p:nvSpPr>
        <p:spPr>
          <a:xfrm>
            <a:off x="5818572" y="2860254"/>
            <a:ext cx="6094520" cy="329192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Saída na tela</a:t>
            </a:r>
          </a:p>
          <a:p>
            <a:pPr>
              <a:lnSpc>
                <a:spcPts val="2813"/>
              </a:lnSpc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</a:t>
            </a:r>
            <a:r>
              <a:rPr lang="pt-BR" dirty="0">
                <a:solidFill>
                  <a:srgbClr val="000000"/>
                </a:solidFill>
                <a:latin typeface="Roboto Mono" pitchFamily="2" charset="0"/>
              </a:rPr>
              <a:t>Localização: (-23.5505, -46.6333)</a:t>
            </a:r>
          </a:p>
          <a:p>
            <a:pPr>
              <a:lnSpc>
                <a:spcPts val="2813"/>
              </a:lnSpc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</a:t>
            </a:r>
            <a:r>
              <a:rPr lang="pt-BR" dirty="0">
                <a:solidFill>
                  <a:srgbClr val="000000"/>
                </a:solidFill>
                <a:latin typeface="Roboto Mono" pitchFamily="2" charset="0"/>
              </a:rPr>
              <a:t>Latitude: -23.5505</a:t>
            </a:r>
          </a:p>
          <a:p>
            <a:pPr>
              <a:lnSpc>
                <a:spcPts val="2813"/>
              </a:lnSpc>
            </a:pPr>
            <a:endParaRPr lang="pt-BR" sz="1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endParaRPr lang="pt-BR" dirty="0">
              <a:solidFill>
                <a:srgbClr val="000000"/>
              </a:solidFill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endParaRPr lang="pt-BR" sz="1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endParaRPr lang="pt-BR" dirty="0">
              <a:solidFill>
                <a:srgbClr val="000000"/>
              </a:solidFill>
              <a:latin typeface="Roboto Mono" pitchFamily="2" charset="0"/>
            </a:endParaRPr>
          </a:p>
          <a:p>
            <a:pPr>
              <a:lnSpc>
                <a:spcPts val="2813"/>
              </a:lnSpc>
            </a:pPr>
            <a:r>
              <a:rPr lang="en-US" dirty="0">
                <a:solidFill>
                  <a:srgbClr val="000000"/>
                </a:solidFill>
                <a:latin typeface="Roboto Mono" pitchFamily="2" charset="0"/>
              </a:rPr>
              <a:t>&gt;&gt;&gt; </a:t>
            </a:r>
            <a:r>
              <a:rPr lang="en-US" dirty="0" err="1">
                <a:solidFill>
                  <a:srgbClr val="000000"/>
                </a:solidFill>
                <a:latin typeface="Roboto Mono" pitchFamily="2" charset="0"/>
              </a:rPr>
              <a:t>coordenadas</a:t>
            </a:r>
            <a:r>
              <a:rPr lang="en-US" dirty="0">
                <a:solidFill>
                  <a:srgbClr val="000000"/>
                </a:solidFill>
                <a:latin typeface="Roboto Mono" pitchFamily="2" charset="0"/>
              </a:rPr>
              <a:t>[0] = -23.0000</a:t>
            </a:r>
          </a:p>
          <a:p>
            <a:pPr>
              <a:lnSpc>
                <a:spcPts val="2813"/>
              </a:lnSpc>
            </a:pPr>
            <a:r>
              <a:rPr lang="en-US" dirty="0">
                <a:solidFill>
                  <a:srgbClr val="000000"/>
                </a:solidFill>
                <a:latin typeface="Roboto Mono" pitchFamily="2" charset="0"/>
              </a:rPr>
              <a:t>IndentationError: unexpected indent</a:t>
            </a:r>
            <a:endParaRPr lang="pt-BR" sz="18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26A141A-D0B1-3D2B-8B9E-390788ADA803}"/>
              </a:ext>
            </a:extLst>
          </p:cNvPr>
          <p:cNvSpPr txBox="1"/>
          <p:nvPr/>
        </p:nvSpPr>
        <p:spPr>
          <a:xfrm>
            <a:off x="64363" y="752426"/>
            <a:ext cx="5484181" cy="54399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Criando uma Tupla (Latitude e Longitude)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coordenadas </a:t>
            </a:r>
            <a:r>
              <a:rPr lang="pt-BR" sz="16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(</a:t>
            </a:r>
            <a:r>
              <a:rPr lang="pt-BR" sz="16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-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23.5505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6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-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46.6333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dirty="0">
              <a:solidFill>
                <a:srgbClr val="37474F"/>
              </a:solidFill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6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6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"Localização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coordenadas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6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6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"Latitude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: 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coordenadas[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0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r>
              <a:rPr lang="pt-BR" sz="16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6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6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TENTANDO ALTERAR </a:t>
            </a:r>
          </a:p>
          <a:p>
            <a:pPr algn="l">
              <a:lnSpc>
                <a:spcPts val="2813"/>
              </a:lnSpc>
              <a:buNone/>
            </a:pPr>
            <a:r>
              <a:rPr lang="pt-BR" sz="1600" dirty="0">
                <a:solidFill>
                  <a:srgbClr val="D81B60"/>
                </a:solidFill>
                <a:latin typeface="Roboto Mono" pitchFamily="2" charset="0"/>
              </a:rPr>
              <a:t>#</a:t>
            </a:r>
            <a:r>
              <a:rPr lang="pt-BR" sz="16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(Isso causará um ERRO no cmd.exe)</a:t>
            </a: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ts val="2813"/>
              </a:lnSpc>
              <a:buNone/>
            </a:pPr>
            <a:r>
              <a:rPr lang="pt-BR" sz="16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coordenadas[0] = -23.0000</a:t>
            </a:r>
          </a:p>
          <a:p>
            <a:pPr algn="l">
              <a:lnSpc>
                <a:spcPts val="2813"/>
              </a:lnSpc>
              <a:buNone/>
            </a:pPr>
            <a:endParaRPr lang="pt-BR" sz="16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8615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43F47E-B755-5A1D-3FB8-52F3DFBE9D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BF4975-6DC8-5776-F7B4-EDCFBB47516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2979" y="406400"/>
            <a:ext cx="9144000" cy="907495"/>
          </a:xfrm>
        </p:spPr>
        <p:txBody>
          <a:bodyPr>
            <a:normAutofit fontScale="90000"/>
          </a:bodyPr>
          <a:lstStyle/>
          <a:p>
            <a:r>
              <a:rPr lang="pt-BR" dirty="0"/>
              <a:t>Conjuntos (</a:t>
            </a:r>
            <a:r>
              <a:rPr lang="pt-BR" dirty="0" err="1"/>
              <a:t>SETs</a:t>
            </a:r>
            <a:r>
              <a:rPr lang="pt-BR" dirty="0"/>
              <a:t>)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14C84B1-8BA6-05BE-265D-851CD14E6B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420427"/>
            <a:ext cx="9144000" cy="3837373"/>
          </a:xfrm>
        </p:spPr>
        <p:txBody>
          <a:bodyPr/>
          <a:lstStyle/>
          <a:p>
            <a:pPr algn="l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78900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C4611B-42AF-CC20-55B4-9F322565FD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18473CED-5390-6407-E4F9-8B6FE9EF4651}"/>
              </a:ext>
            </a:extLst>
          </p:cNvPr>
          <p:cNvSpPr txBox="1"/>
          <p:nvPr/>
        </p:nvSpPr>
        <p:spPr>
          <a:xfrm>
            <a:off x="5818572" y="610383"/>
            <a:ext cx="6192915" cy="325217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ts val="2813"/>
              </a:lnSpc>
            </a:pPr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Memória RAM -- 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Variável tipo TUPLA</a:t>
            </a:r>
          </a:p>
          <a:p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Variável do tipo lista</a:t>
            </a:r>
          </a:p>
          <a:p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presenca_lista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+-------------------------------------------------------+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| [0]: "Ana" | [1]: "Bruno" | [2]: "Ana" | [3]: "Carlos"|</a:t>
            </a:r>
          </a:p>
          <a:p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+-------------------------------------------------------+</a:t>
            </a:r>
          </a:p>
          <a:p>
            <a:endParaRPr lang="pt-BR" sz="1200" dirty="0">
              <a:solidFill>
                <a:srgbClr val="000000"/>
              </a:solidFill>
              <a:latin typeface="Roboto Mono" pitchFamily="2" charset="0"/>
            </a:endParaRP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Variável do tipo conjunto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</a:t>
            </a:r>
            <a:r>
              <a:rPr lang="pt-BR" sz="14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presenca_set</a:t>
            </a:r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+-----------------------+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|  "Carlos"    "Ana"    |  &lt;-- "Ana" só entra uma vez.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|      "Bruno"          |  &lt;-- Não existe índice [0].</a:t>
            </a:r>
          </a:p>
          <a:p>
            <a:r>
              <a:rPr lang="pt-BR" sz="14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 +-----------------------+</a:t>
            </a:r>
          </a:p>
          <a:p>
            <a:endParaRPr lang="pt-BR" sz="14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636BB4D5-C30C-1D64-F68A-AD96C8D2E47F}"/>
              </a:ext>
            </a:extLst>
          </p:cNvPr>
          <p:cNvSpPr txBox="1"/>
          <p:nvPr/>
        </p:nvSpPr>
        <p:spPr>
          <a:xfrm>
            <a:off x="5818572" y="4369458"/>
            <a:ext cx="6094520" cy="1137491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l">
              <a:lnSpc>
                <a:spcPts val="2813"/>
              </a:lnSpc>
              <a:buNone/>
            </a:pPr>
            <a:r>
              <a:rPr lang="pt-BR" sz="1800" b="0" i="0" dirty="0">
                <a:solidFill>
                  <a:srgbClr val="000000"/>
                </a:solidFill>
                <a:effectLst/>
                <a:latin typeface="Roboto Mono" pitchFamily="2" charset="0"/>
              </a:rPr>
              <a:t>-- Saída na tela</a:t>
            </a:r>
          </a:p>
          <a:p>
            <a:pPr>
              <a:lnSpc>
                <a:spcPts val="2813"/>
              </a:lnSpc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</a:t>
            </a:r>
            <a:r>
              <a:rPr lang="pt-BR" dirty="0">
                <a:solidFill>
                  <a:srgbClr val="000000"/>
                </a:solidFill>
                <a:latin typeface="Roboto Mono" pitchFamily="2" charset="0"/>
              </a:rPr>
              <a:t>Lista original: Ana, Bruno, Ana, Carlos</a:t>
            </a:r>
          </a:p>
          <a:p>
            <a:pPr>
              <a:lnSpc>
                <a:spcPts val="2813"/>
              </a:lnSpc>
            </a:pPr>
            <a:r>
              <a:rPr lang="pt-BR" sz="1800" dirty="0">
                <a:solidFill>
                  <a:srgbClr val="000000"/>
                </a:solidFill>
                <a:latin typeface="Roboto Mono" pitchFamily="2" charset="0"/>
              </a:rPr>
              <a:t>&gt;&gt;&gt; Conjunto único: Ana, Bruno, Carlos</a:t>
            </a:r>
            <a:endParaRPr lang="pt-BR" dirty="0">
              <a:solidFill>
                <a:srgbClr val="000000"/>
              </a:solidFill>
              <a:latin typeface="Roboto Mono" pitchFamily="2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02C6058-5A27-ACDF-5FAD-E023A04DF12E}"/>
              </a:ext>
            </a:extLst>
          </p:cNvPr>
          <p:cNvSpPr txBox="1"/>
          <p:nvPr/>
        </p:nvSpPr>
        <p:spPr>
          <a:xfrm>
            <a:off x="97654" y="610383"/>
            <a:ext cx="5646198" cy="504753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Uma lista com nomes repetidos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presenca_lista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[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"Bruno"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"Carlos"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"Bruno"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]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D81B6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dirty="0">
              <a:solidFill>
                <a:srgbClr val="D81B60"/>
              </a:solidFill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D81B6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dirty="0">
              <a:solidFill>
                <a:srgbClr val="D81B60"/>
              </a:solidFill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D81B60"/>
                </a:solidFill>
                <a:effectLst/>
                <a:latin typeface="Roboto Mono" pitchFamily="2" charset="0"/>
              </a:rPr>
              <a:t># Convertendo para Conjunto (set) para remover duplicatas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presenca_set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</a:t>
            </a:r>
            <a:r>
              <a:rPr lang="pt-BR" sz="1200" b="0" i="0" dirty="0">
                <a:solidFill>
                  <a:srgbClr val="3F51B5"/>
                </a:solidFill>
                <a:effectLst/>
                <a:latin typeface="Roboto Mono" pitchFamily="2" charset="0"/>
              </a:rPr>
              <a:t>=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 {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"Bruno"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"Ana"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"Carlos"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, 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"Bruno"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}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dirty="0">
              <a:solidFill>
                <a:srgbClr val="37474F"/>
              </a:solidFill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37474F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"Lista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original: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presenca_lista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print(</a:t>
            </a:r>
            <a:r>
              <a:rPr lang="pt-BR" sz="1200" b="0" i="0" dirty="0" err="1">
                <a:solidFill>
                  <a:srgbClr val="3F51B5"/>
                </a:solidFill>
                <a:effectLst/>
                <a:latin typeface="Roboto Mono" pitchFamily="2" charset="0"/>
              </a:rPr>
              <a:t>f</a:t>
            </a:r>
            <a:r>
              <a:rPr lang="pt-BR" sz="1200" b="0" i="0" dirty="0" err="1">
                <a:solidFill>
                  <a:srgbClr val="388E3C"/>
                </a:solidFill>
                <a:effectLst/>
                <a:latin typeface="Roboto Mono" pitchFamily="2" charset="0"/>
              </a:rPr>
              <a:t>"Conjunto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 único: 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{</a:t>
            </a:r>
            <a:r>
              <a:rPr lang="pt-BR" sz="1200" b="0" i="0" dirty="0" err="1">
                <a:solidFill>
                  <a:srgbClr val="37474F"/>
                </a:solidFill>
                <a:effectLst/>
                <a:latin typeface="Roboto Mono" pitchFamily="2" charset="0"/>
              </a:rPr>
              <a:t>presenca_set</a:t>
            </a:r>
            <a:r>
              <a:rPr lang="pt-BR" sz="1200" b="0" i="0" dirty="0">
                <a:solidFill>
                  <a:srgbClr val="C53929"/>
                </a:solidFill>
                <a:effectLst/>
                <a:latin typeface="Roboto Mono" pitchFamily="2" charset="0"/>
              </a:rPr>
              <a:t>}</a:t>
            </a:r>
            <a:r>
              <a:rPr lang="pt-BR" sz="1200" b="0" i="0" dirty="0">
                <a:solidFill>
                  <a:srgbClr val="388E3C"/>
                </a:solidFill>
                <a:effectLst/>
                <a:latin typeface="Roboto Mono" pitchFamily="2" charset="0"/>
              </a:rPr>
              <a:t>"</a:t>
            </a:r>
            <a:r>
              <a:rPr lang="pt-BR" sz="1200" b="0" i="0" dirty="0">
                <a:solidFill>
                  <a:srgbClr val="37474F"/>
                </a:solidFill>
                <a:effectLst/>
                <a:latin typeface="Roboto Mono" pitchFamily="2" charset="0"/>
              </a:rPr>
              <a:t>)</a:t>
            </a: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  <a:p>
            <a:pPr algn="l">
              <a:lnSpc>
                <a:spcPct val="150000"/>
              </a:lnSpc>
              <a:buNone/>
            </a:pPr>
            <a:endParaRPr lang="pt-BR" sz="1200" b="0" i="0" dirty="0">
              <a:solidFill>
                <a:srgbClr val="000000"/>
              </a:solidFill>
              <a:effectLst/>
              <a:latin typeface="Roboto Mon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1461463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1075</Words>
  <Application>Microsoft Office PowerPoint</Application>
  <PresentationFormat>Widescreen</PresentationFormat>
  <Paragraphs>191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Roboto Mono</vt:lpstr>
      <vt:lpstr>Tema do Office</vt:lpstr>
      <vt:lpstr>Aula 07</vt:lpstr>
      <vt:lpstr>Listas</vt:lpstr>
      <vt:lpstr>Apresentação do PowerPoint</vt:lpstr>
      <vt:lpstr>Apresentação do PowerPoint</vt:lpstr>
      <vt:lpstr>Dicionários</vt:lpstr>
      <vt:lpstr>Apresentação do PowerPoint</vt:lpstr>
      <vt:lpstr>Apresentação do PowerPoint</vt:lpstr>
      <vt:lpstr>Tuplas</vt:lpstr>
      <vt:lpstr>Apresentação do PowerPoint</vt:lpstr>
      <vt:lpstr>Conjuntos (SETs)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Miguel Suarez Xavier Penteado</dc:creator>
  <cp:lastModifiedBy>Miguel Suarez Xavier Penteado</cp:lastModifiedBy>
  <cp:revision>2</cp:revision>
  <dcterms:created xsi:type="dcterms:W3CDTF">2026-04-07T02:18:03Z</dcterms:created>
  <dcterms:modified xsi:type="dcterms:W3CDTF">2026-04-07T04:48:09Z</dcterms:modified>
</cp:coreProperties>
</file>
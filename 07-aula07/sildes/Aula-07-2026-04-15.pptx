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583505-839D-4FDB-96AB-B06BDB678086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ECAC5C-A03B-4568-91FF-2330E0B80C8C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59937F-34BB-4099-A854-D3236A5F0E75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922E01-3F43-4E28-83AB-8511CD831C2B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CEC26C-64C9-4B43-92FE-9CF328C9B21A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AF7B84-7DE8-45B0-A744-83F78B46E1E4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240" cy="105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E2C479-BE3F-4D29-A584-C2894B63116F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 rot="5400000">
            <a:off x="7133760" y="1956240"/>
            <a:ext cx="5810760" cy="26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 rot="5400000">
            <a:off x="1799640" y="-596160"/>
            <a:ext cx="5810760" cy="77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03A5BB-6E31-41DB-9263-C33362025D0F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C63356-BAAE-4A7A-8B4A-C49614AB1A29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2DE266-76CD-4D2D-AFD9-02B031F50A89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837EEA-ECA1-4A39-9797-D1A6B876B661}" type="slidenum">
              <a:rPr b="0" lang="pt-BR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Aula 5 - 2026-04-15</a:t>
            </a:r>
            <a:br>
              <a:rPr sz="6000"/>
            </a:b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Variáveis compostas: Listas e Dicionários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52960" y="40644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Entrada e Saída em Python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2920" cy="383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Entrada e saída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Print() - Imprimir na Tela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Input() - Ler do Teclado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ARQUIVOS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OPEN() - Abre arquivos (função nativa do python)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Write() - Escreve em arquivos (função nativa python)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Close() - Fecha um arquivo (Função nativa do python)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Palavra reservada WITH – fecha automaticamente arquivos após uso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40000" y="3600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ARQUIVOS: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92;p15"/>
          <p:cNvSpPr/>
          <p:nvPr/>
        </p:nvSpPr>
        <p:spPr>
          <a:xfrm>
            <a:off x="1523880" y="1508760"/>
            <a:ext cx="9142920" cy="38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16000" indent="-216000">
              <a:lnSpc>
                <a:spcPct val="9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Meio inicial de armazenar conteúdo e estado de variáveis;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Forma mais simples de intercâmbio de dados com outros programas;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Porta de entrada para Sistemas de Gerenciamento de Banco de Dados;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Formato de Arquivos TEXTO;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Formato de Arquivos Binários;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440000" y="1800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Tipos de Variáveis para Armazenar: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" name="Google Shape;98;p16"/>
          <p:cNvGraphicFramePr/>
          <p:nvPr/>
        </p:nvGraphicFramePr>
        <p:xfrm>
          <a:off x="720000" y="1294200"/>
          <a:ext cx="10184040" cy="5306760"/>
        </p:xfrm>
        <a:graphic>
          <a:graphicData uri="http://schemas.openxmlformats.org/drawingml/2006/table">
            <a:tbl>
              <a:tblPr/>
              <a:tblGrid>
                <a:gridCol w="2094120"/>
                <a:gridCol w="8089920"/>
              </a:tblGrid>
              <a:tr h="6588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Tipos de Variáveis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Exemplo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8800"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Simples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6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aluno0 </a:t>
                      </a:r>
                      <a:r>
                        <a:rPr b="0" lang="pt-BR" sz="18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b="0" lang="pt-BR" sz="18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"Ana"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6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aluno1 </a:t>
                      </a:r>
                      <a:r>
                        <a:rPr b="0" lang="pt-BR" sz="18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b="0" lang="pt-BR" sz="18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"Bruno"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56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aluno2 </a:t>
                      </a:r>
                      <a:r>
                        <a:rPr b="0" lang="pt-BR" sz="18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b="0" lang="pt-BR" sz="18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"Carlos"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8800"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b="1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Listas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alunos </a:t>
                      </a:r>
                      <a:r>
                        <a:rPr b="0" lang="pt-BR" sz="16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[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"Ana"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"Bruno"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"Carlos"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]</a:t>
                      </a:r>
                      <a:endParaRPr b="0" lang="pt-BR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8800"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b="1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Dicionários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produto </a:t>
                      </a:r>
                      <a:r>
                        <a:rPr b="0" lang="pt-BR" sz="18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{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   "id“   </a:t>
                      </a: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: </a:t>
                      </a:r>
                      <a:r>
                        <a:rPr b="0" lang="pt-BR" sz="1800" strike="noStrike" u="non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101</a:t>
                      </a: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   "nome“ </a:t>
                      </a: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: </a:t>
                      </a:r>
                      <a:r>
                        <a:rPr b="0" lang="pt-BR" sz="18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"Teclado Mecânico"</a:t>
                      </a: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   "preco"</a:t>
                      </a: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: </a:t>
                      </a:r>
                      <a:r>
                        <a:rPr b="0" lang="pt-BR" sz="1800" strike="noStrike" u="non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150.00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}</a:t>
                      </a:r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8800"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Tuplas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coordenadas </a:t>
                      </a:r>
                      <a:r>
                        <a:rPr b="0" lang="pt-BR" sz="16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(</a:t>
                      </a:r>
                      <a:r>
                        <a:rPr b="0" lang="pt-BR" sz="16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-</a:t>
                      </a:r>
                      <a:r>
                        <a:rPr b="0" lang="pt-BR" sz="1600" strike="noStrike" u="non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23.5505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b="0" lang="pt-BR" sz="16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-</a:t>
                      </a:r>
                      <a:r>
                        <a:rPr b="0" lang="pt-BR" sz="1600" strike="noStrike" u="none">
                          <a:solidFill>
                            <a:srgbClr val="c53929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46.6333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)</a:t>
                      </a:r>
                      <a:endParaRPr b="0" lang="pt-BR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7920"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Noto Sans Symbols"/>
                        <a:buChar char="●"/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Conjuntos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presenca_set </a:t>
                      </a:r>
                      <a:r>
                        <a:rPr b="0" lang="pt-BR" sz="1600" strike="noStrike" u="none">
                          <a:solidFill>
                            <a:srgbClr val="3f51b5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=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 {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"Ana"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"Bruno"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"Ana"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"Carlos"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, </a:t>
                      </a:r>
                      <a:r>
                        <a:rPr b="0" lang="pt-BR" sz="1600" strike="noStrike" u="none">
                          <a:solidFill>
                            <a:srgbClr val="388e3c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"Bruno"</a:t>
                      </a:r>
                      <a:r>
                        <a:rPr b="0" lang="pt-BR" sz="1600" strike="noStrike" u="none">
                          <a:solidFill>
                            <a:srgbClr val="37474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}</a:t>
                      </a:r>
                      <a:endParaRPr b="0" lang="pt-BR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 método CLÁSSICO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04;p17"/>
          <p:cNvSpPr/>
          <p:nvPr/>
        </p:nvSpPr>
        <p:spPr>
          <a:xfrm>
            <a:off x="1524240" y="2144520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 um arquivo e associa o mesmo a uma variável;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 no conteúdo do arquivo;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Fecha o arquivo;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09;p18"/>
          <p:cNvSpPr/>
          <p:nvPr/>
        </p:nvSpPr>
        <p:spPr>
          <a:xfrm>
            <a:off x="261720" y="411480"/>
            <a:ext cx="7967520" cy="437112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1. Abre o arquivo (se não existe, cria)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"exemplo_classico.txt"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7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2. Realiza as operações de escrita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.write(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"Escrita no modo clássico.</a:t>
            </a:r>
            <a:r>
              <a:rPr b="0" lang="pt-BR" sz="17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\n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"Dados enviados para a variável do arquivo."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3. Fecha o arquivo obrigatoriamente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.close()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"Arquivo criado e dados salvos com sucesso!"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110;p18" descr=""/>
          <p:cNvPicPr/>
          <p:nvPr/>
        </p:nvPicPr>
        <p:blipFill>
          <a:blip r:embed="rId1"/>
          <a:stretch/>
        </p:blipFill>
        <p:spPr>
          <a:xfrm>
            <a:off x="8269920" y="140040"/>
            <a:ext cx="3762360" cy="134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111;p18" descr=""/>
          <p:cNvPicPr/>
          <p:nvPr/>
        </p:nvPicPr>
        <p:blipFill>
          <a:blip r:embed="rId2"/>
          <a:stretch/>
        </p:blipFill>
        <p:spPr>
          <a:xfrm>
            <a:off x="8441640" y="1599480"/>
            <a:ext cx="3590640" cy="173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112;p18" descr=""/>
          <p:cNvPicPr/>
          <p:nvPr/>
        </p:nvPicPr>
        <p:blipFill>
          <a:blip r:embed="rId3"/>
          <a:stretch/>
        </p:blipFill>
        <p:spPr>
          <a:xfrm>
            <a:off x="8229600" y="3700800"/>
            <a:ext cx="3762360" cy="134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Criação de arquivos método PYTHON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18;p19"/>
          <p:cNvSpPr/>
          <p:nvPr/>
        </p:nvSpPr>
        <p:spPr>
          <a:xfrm>
            <a:off x="1524240" y="2144520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Cria um arquivo e associa o mesmo a uma variável;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Escreve no conteúdo do arquivo;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NÃO PRECISA SE PREOCUPAR EM FECHA-LO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23;p20"/>
          <p:cNvSpPr/>
          <p:nvPr/>
        </p:nvSpPr>
        <p:spPr>
          <a:xfrm>
            <a:off x="99720" y="436320"/>
            <a:ext cx="7967520" cy="23238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"exemplo.txt"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6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arquivo: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arquivo.write(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"Olá! Este é um exemplo de escrita.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\n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arquivo.write(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"Segunda linha do arquivo."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"Arquivo gravado com sucesso!"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Google Shape;124;p20" descr=""/>
          <p:cNvPicPr/>
          <p:nvPr/>
        </p:nvPicPr>
        <p:blipFill>
          <a:blip r:embed="rId1"/>
          <a:stretch/>
        </p:blipFill>
        <p:spPr>
          <a:xfrm>
            <a:off x="8486640" y="-205560"/>
            <a:ext cx="3248280" cy="11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25;p20" descr=""/>
          <p:cNvPicPr/>
          <p:nvPr/>
        </p:nvPicPr>
        <p:blipFill>
          <a:blip r:embed="rId2"/>
          <a:stretch/>
        </p:blipFill>
        <p:spPr>
          <a:xfrm>
            <a:off x="8229600" y="982440"/>
            <a:ext cx="3962160" cy="21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26;p20" descr=""/>
          <p:cNvPicPr/>
          <p:nvPr/>
        </p:nvPicPr>
        <p:blipFill>
          <a:blip r:embed="rId3"/>
          <a:stretch/>
        </p:blipFill>
        <p:spPr>
          <a:xfrm>
            <a:off x="8394480" y="3494520"/>
            <a:ext cx="1580760" cy="7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27;p20" descr=""/>
          <p:cNvPicPr/>
          <p:nvPr/>
        </p:nvPicPr>
        <p:blipFill>
          <a:blip r:embed="rId4"/>
          <a:stretch/>
        </p:blipFill>
        <p:spPr>
          <a:xfrm>
            <a:off x="6835680" y="4409280"/>
            <a:ext cx="5217840" cy="81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1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33;p21"/>
          <p:cNvSpPr/>
          <p:nvPr/>
        </p:nvSpPr>
        <p:spPr>
          <a:xfrm>
            <a:off x="1209600" y="1014120"/>
            <a:ext cx="9987480" cy="16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Crie uma variável-lista com valores "fulano", "ciclano", e "beltrano" e salve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esses valores em arquivos.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uma estrutura de repetição para percorrer a lista.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34;p21"/>
          <p:cNvSpPr/>
          <p:nvPr/>
        </p:nvSpPr>
        <p:spPr>
          <a:xfrm>
            <a:off x="398880" y="2805480"/>
            <a:ext cx="10798200" cy="248544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variavel_lista_1 </a:t>
            </a:r>
            <a:r>
              <a:rPr b="0" lang="pt-BR" sz="23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</a:t>
            </a:r>
            <a:r>
              <a:rPr b="0" lang="pt-BR" sz="23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'fulano'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3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'ciclano'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3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'beltrano'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3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23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"exemplo1-lista.txt"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3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23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variavel_arquivo: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3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indice </a:t>
            </a:r>
            <a:r>
              <a:rPr b="0" lang="pt-BR" sz="23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variavel_lista_1: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variavel_arquivo.write(str(indice) </a:t>
            </a:r>
            <a:r>
              <a:rPr b="0" lang="pt-BR" sz="23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+</a:t>
            </a:r>
            <a:r>
              <a:rPr b="0" lang="pt-BR" sz="23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</a:t>
            </a:r>
            <a:r>
              <a:rPr b="0" lang="pt-BR" sz="23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\n</a:t>
            </a:r>
            <a:r>
              <a:rPr b="0" lang="pt-BR" sz="23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23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2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40;p22"/>
          <p:cNvSpPr/>
          <p:nvPr/>
        </p:nvSpPr>
        <p:spPr>
          <a:xfrm>
            <a:off x="1209600" y="1014120"/>
            <a:ext cx="998748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Faça um programa em python. Crie uma variável-dicionário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para cadastrar a Cliente "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". Ana tem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 anos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 mora na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cidade de São Paulo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41;p22"/>
          <p:cNvSpPr/>
          <p:nvPr/>
        </p:nvSpPr>
        <p:spPr>
          <a:xfrm>
            <a:off x="536040" y="2285280"/>
            <a:ext cx="10748160" cy="37400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22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{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 "nome"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 "idade"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22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 "cidade"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}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"exemplo2-dicionario.txt"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22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22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.items():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.write(</a:t>
            </a:r>
            <a:r>
              <a:rPr b="0" lang="pt-BR" sz="22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f</a:t>
            </a: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22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b="0" lang="pt-BR" sz="22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</a:t>
            </a: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:</a:t>
            </a:r>
            <a:r>
              <a:rPr b="0" lang="pt-BR" sz="22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b="1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22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}\n</a:t>
            </a:r>
            <a:r>
              <a:rPr b="0" lang="pt-BR" sz="22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22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3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47;p23"/>
          <p:cNvSpPr/>
          <p:nvPr/>
        </p:nvSpPr>
        <p:spPr>
          <a:xfrm>
            <a:off x="511200" y="1014120"/>
            <a:ext cx="10897920" cy="16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Crie uma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planilha de excel 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usando criando um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arquivo texto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formato CSV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A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primeira linha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deve ser o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nome das colunas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segunda linha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deve ser o r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egistro do Cliente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Use os dados da cliente "Ana", de 25 anos e que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mora em São Paulo.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48;p23"/>
          <p:cNvSpPr/>
          <p:nvPr/>
        </p:nvSpPr>
        <p:spPr>
          <a:xfrm>
            <a:off x="398880" y="2805480"/>
            <a:ext cx="10798200" cy="207756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 [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"Nome", "Idade"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], [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], [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"Carlos"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30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 ]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"usuarios.</a:t>
            </a:r>
            <a:r>
              <a:rPr b="1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csv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usuarios: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.write(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f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}\n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Facilidades PYTHON - Formatos de Arquivo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54;p24"/>
          <p:cNvSpPr/>
          <p:nvPr/>
        </p:nvSpPr>
        <p:spPr>
          <a:xfrm>
            <a:off x="1524240" y="2144520"/>
            <a:ext cx="9142920" cy="27054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Formatar em </a:t>
            </a:r>
            <a:r>
              <a:rPr b="1" lang="pt-BR" sz="2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CSV</a:t>
            </a:r>
            <a:r>
              <a:rPr b="0" lang="pt-BR" sz="2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ou </a:t>
            </a:r>
            <a:r>
              <a:rPr b="1" lang="pt-BR" sz="2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JSON</a:t>
            </a:r>
            <a:r>
              <a:rPr b="0" lang="pt-BR" sz="27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é importante porque 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072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Transforma </a:t>
            </a: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dados brutos</a:t>
            </a: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em </a:t>
            </a: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dados estruturados</a:t>
            </a: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CSV</a:t>
            </a: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e </a:t>
            </a: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JSON</a:t>
            </a: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são padrões universais;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PYTHON facilita armazenar dados em </a:t>
            </a: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formato estruturados</a:t>
            </a: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085120" y="1109880"/>
            <a:ext cx="7179120" cy="13334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7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FORMATO CSV</a:t>
            </a:r>
            <a:endParaRPr b="0" lang="pt-BR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60;p25"/>
          <p:cNvSpPr/>
          <p:nvPr/>
        </p:nvSpPr>
        <p:spPr>
          <a:xfrm>
            <a:off x="1524240" y="2693160"/>
            <a:ext cx="9142920" cy="270540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682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Significa “Comma Separated Values” (Valores Separados por Vírgula);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usado para gerar </a:t>
            </a: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tabelas simples</a:t>
            </a: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arquivos csv abrem no ms </a:t>
            </a:r>
            <a:r>
              <a:rPr b="1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excel</a:t>
            </a: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4240" y="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4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66;p26"/>
          <p:cNvSpPr/>
          <p:nvPr/>
        </p:nvSpPr>
        <p:spPr>
          <a:xfrm>
            <a:off x="511200" y="852120"/>
            <a:ext cx="1089792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Crie uma planilha de excel usando criando um arquivo texto no formato CSV. Crie uma variável lista contendo 2 dicionários. Salve esse conetúdo das variáveis dentro de um arquivo.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facilidades do Python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67;p26"/>
          <p:cNvSpPr/>
          <p:nvPr/>
        </p:nvSpPr>
        <p:spPr>
          <a:xfrm>
            <a:off x="249480" y="2119680"/>
            <a:ext cx="11483640" cy="39862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9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"nome"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 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"idade"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9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}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{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"nome"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"Pedro"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"idade"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9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11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}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1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exemplo4.csv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9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newline</a:t>
            </a:r>
            <a:r>
              <a:rPr b="0" lang="pt-BR" sz="19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9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19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9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19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9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.writer(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.writerow(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b="0" lang="pt-BR" sz="19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0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].keys())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.writerow(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b="0" lang="pt-BR" sz="19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0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].values())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formatador_csv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.writerow(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b="0" lang="pt-BR" sz="19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1</a:t>
            </a:r>
            <a:r>
              <a:rPr b="0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].values())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085120" y="1109880"/>
            <a:ext cx="8201520" cy="13334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7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FORMATO JSON</a:t>
            </a:r>
            <a:endParaRPr b="0" lang="pt-BR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73;p27"/>
          <p:cNvSpPr/>
          <p:nvPr/>
        </p:nvSpPr>
        <p:spPr>
          <a:xfrm>
            <a:off x="1524240" y="2693160"/>
            <a:ext cx="9142920" cy="270540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682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Significa “JavaScript Object Notation” (Notação de Objetos JavaScript);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usado enviar valores de variáveis pela rede (A.P.I.);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usado em Banco de Dados NoSQL (orientados a documentos);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É um formato texto (legível a humanos);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4240" y="-550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5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79;p28"/>
          <p:cNvSpPr/>
          <p:nvPr/>
        </p:nvSpPr>
        <p:spPr>
          <a:xfrm>
            <a:off x="536040" y="852120"/>
            <a:ext cx="1148364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Crie uma planilha de excel usando criando um arquivo texto no formato JSON. Crie uma variável lista contendo 2 dicionários. Salve esse conetúdo das variáveis dentro de um arquivo.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facilidades do Python.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facilidades do Python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80;p28"/>
          <p:cNvSpPr/>
          <p:nvPr/>
        </p:nvSpPr>
        <p:spPr>
          <a:xfrm>
            <a:off x="274320" y="1920240"/>
            <a:ext cx="11483640" cy="297036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json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{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"nome"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"Ana"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  "idade"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25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},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{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"nome"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"Pedro"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 "idade"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11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"cidade"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 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"São Paulo"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1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exemplo5.json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"w"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8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json.dump(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8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ensure_ascii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False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8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indent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  <a:ea typeface="Roboto Mono"/>
              </a:rPr>
              <a:t>4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085120" y="1109880"/>
            <a:ext cx="8201520" cy="133344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7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LER ARQUIVOS</a:t>
            </a:r>
            <a:endParaRPr b="0" lang="pt-BR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86;p29"/>
          <p:cNvSpPr/>
          <p:nvPr/>
        </p:nvSpPr>
        <p:spPr>
          <a:xfrm>
            <a:off x="1524240" y="2693160"/>
            <a:ext cx="9142920" cy="2705400"/>
          </a:xfrm>
          <a:prstGeom prst="rect">
            <a:avLst/>
          </a:prstGeom>
          <a:solidFill>
            <a:srgbClr val="a4c2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3682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Vamos basicamente fazer o processo reverso;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Criamos os arquivos. Agora vamos le-los;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6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92;p30"/>
          <p:cNvSpPr/>
          <p:nvPr/>
        </p:nvSpPr>
        <p:spPr>
          <a:xfrm>
            <a:off x="1209600" y="1014120"/>
            <a:ext cx="998748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Temos um arquivo com os valores "fulano", "ciclano", e "beltrano" 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Faça um programa python para ler estes arquivos.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93;p30"/>
          <p:cNvSpPr/>
          <p:nvPr/>
        </p:nvSpPr>
        <p:spPr>
          <a:xfrm>
            <a:off x="398880" y="1920960"/>
            <a:ext cx="11576880" cy="443340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variavel_lista_lida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20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[]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0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20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1" lang="pt-BR" sz="20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exemplo1-lista.txt</a:t>
            </a:r>
            <a:r>
              <a:rPr b="0" lang="pt-BR" sz="20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0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0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20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20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20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0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linha </a:t>
            </a:r>
            <a:r>
              <a:rPr b="0" lang="pt-BR" sz="20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variavel_lista_lida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.append(</a:t>
            </a:r>
            <a:r>
              <a:rPr b="1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.strip())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1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variavel_lista_lida</a:t>
            </a:r>
            <a:r>
              <a:rPr b="0" lang="pt-BR" sz="20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7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99;p31"/>
          <p:cNvSpPr/>
          <p:nvPr/>
        </p:nvSpPr>
        <p:spPr>
          <a:xfrm>
            <a:off x="1209600" y="1014120"/>
            <a:ext cx="998748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Faça um programa em python. Leia e imprima na tela o cadastro da  Cliente "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". 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200;p31"/>
          <p:cNvSpPr/>
          <p:nvPr/>
        </p:nvSpPr>
        <p:spPr>
          <a:xfrm>
            <a:off x="536040" y="1920960"/>
            <a:ext cx="10748160" cy="39286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{}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1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exemplo2-dicionario.txt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6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9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.strip().split(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":"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if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.isdigit():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int(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     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chave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1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524240" y="1072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8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206;p32"/>
          <p:cNvSpPr/>
          <p:nvPr/>
        </p:nvSpPr>
        <p:spPr>
          <a:xfrm>
            <a:off x="511200" y="1014120"/>
            <a:ext cx="108979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Leia a planilha excel CSV da cliente ANA e imprima os valores na tela;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207;p32"/>
          <p:cNvSpPr/>
          <p:nvPr/>
        </p:nvSpPr>
        <p:spPr>
          <a:xfrm>
            <a:off x="398880" y="1462320"/>
            <a:ext cx="10798200" cy="407052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usuarios_lidos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[]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1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usuarios.csv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7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linha.strip().split(</a:t>
            </a:r>
            <a:r>
              <a:rPr b="0" lang="pt-BR" sz="17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","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if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.isdigit():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7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int(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      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usuarios_lidos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.append([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nome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idade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1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usuarios_lidos</a:t>
            </a:r>
            <a:r>
              <a:rPr b="0" lang="pt-BR" sz="17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524240" y="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9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213;p33"/>
          <p:cNvSpPr/>
          <p:nvPr/>
        </p:nvSpPr>
        <p:spPr>
          <a:xfrm>
            <a:off x="511200" y="852120"/>
            <a:ext cx="10897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as </a:t>
            </a:r>
            <a:r>
              <a:rPr b="1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facilidades do Python</a:t>
            </a: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Leia a planilha CSV que você crou no exemplo 4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214;p33"/>
          <p:cNvSpPr/>
          <p:nvPr/>
        </p:nvSpPr>
        <p:spPr>
          <a:xfrm>
            <a:off x="274680" y="1287720"/>
            <a:ext cx="11483640" cy="56718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[]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15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1" lang="pt-BR" sz="15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exemplo4.csv</a:t>
            </a:r>
            <a:r>
              <a:rPr b="0" lang="pt-BR" sz="15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5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15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leitor_csv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csv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.reader(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v_arquivo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 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cabecalho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next(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leitor_csv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 </a:t>
            </a:r>
            <a:r>
              <a:rPr b="0" lang="pt-BR" sz="1500" strike="noStrike" u="non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# lê a primeira linha (colunas)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for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linha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leitor_csv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registro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{}       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for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in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range(len(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cabecalho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)):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linha[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           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d81b60"/>
                </a:solidFill>
                <a:effectLst/>
                <a:uFillTx/>
                <a:latin typeface="Roboto Mono"/>
                <a:ea typeface="Roboto Mono"/>
              </a:rPr>
              <a:t>            # conversão de tipo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            if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.isdigit():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   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int(valor)            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   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registro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cabecalho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[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i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]] </a:t>
            </a:r>
            <a:r>
              <a:rPr b="0" lang="pt-BR" sz="15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valor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    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.append(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registro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1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15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524240" y="-5508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Exemplo 10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220;p34"/>
          <p:cNvSpPr/>
          <p:nvPr/>
        </p:nvSpPr>
        <p:spPr>
          <a:xfrm>
            <a:off x="536040" y="852120"/>
            <a:ext cx="1148364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Leia o arquivo JSON que você  criou no exemplo 4 e imprima os valores do json na tela.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DICA: Use as facilidades do Python.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221;p34"/>
          <p:cNvSpPr/>
          <p:nvPr/>
        </p:nvSpPr>
        <p:spPr>
          <a:xfrm>
            <a:off x="249120" y="1689480"/>
            <a:ext cx="11483640" cy="374760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1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import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json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1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with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open(</a:t>
            </a:r>
            <a:r>
              <a:rPr b="0" lang="pt-BR" sz="21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1" lang="pt-BR" sz="21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exemplo5.json</a:t>
            </a:r>
            <a:r>
              <a:rPr b="0" lang="pt-BR" sz="21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1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"r"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, </a:t>
            </a:r>
            <a:r>
              <a:rPr b="0" lang="pt-BR" sz="2100" strike="noStrike" u="none">
                <a:solidFill>
                  <a:srgbClr val="0097a7"/>
                </a:solidFill>
                <a:effectLst/>
                <a:uFillTx/>
                <a:latin typeface="Roboto Mono"/>
                <a:ea typeface="Roboto Mono"/>
              </a:rPr>
              <a:t>encoding</a:t>
            </a:r>
            <a:r>
              <a:rPr b="0" lang="pt-BR" sz="21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2100" strike="noStrike" u="none">
                <a:solidFill>
                  <a:srgbClr val="388e3c"/>
                </a:solidFill>
                <a:effectLst/>
                <a:uFillTx/>
                <a:latin typeface="Roboto Mono"/>
                <a:ea typeface="Roboto Mono"/>
              </a:rPr>
              <a:t>"utf-8"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 </a:t>
            </a:r>
            <a:r>
              <a:rPr b="0" lang="pt-BR" sz="21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as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1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: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   </a:t>
            </a:r>
            <a:r>
              <a:rPr b="1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</a:t>
            </a:r>
            <a:r>
              <a:rPr b="0" lang="pt-BR" sz="2100" strike="noStrike" u="none">
                <a:solidFill>
                  <a:srgbClr val="3f51b5"/>
                </a:solidFill>
                <a:effectLst/>
                <a:uFillTx/>
                <a:latin typeface="Roboto Mono"/>
                <a:ea typeface="Roboto Mono"/>
              </a:rPr>
              <a:t>=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 json.load(</a:t>
            </a:r>
            <a:r>
              <a:rPr b="1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variavel_arquivo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print(</a:t>
            </a:r>
            <a:r>
              <a:rPr b="1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variavel_dicionario_lido</a:t>
            </a:r>
            <a:r>
              <a:rPr b="0" lang="pt-BR" sz="2100" strike="noStrike" u="none">
                <a:solidFill>
                  <a:srgbClr val="37474f"/>
                </a:solidFill>
                <a:effectLst/>
                <a:uFillTx/>
                <a:latin typeface="Roboto Mono"/>
                <a:ea typeface="Roboto Mono"/>
              </a:rPr>
              <a:t>)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2026-04-15T16:58:05Z</dcterms:modified>
  <cp:revision>1</cp:revision>
  <dc:subject/>
  <dc:title/>
</cp:coreProperties>
</file>
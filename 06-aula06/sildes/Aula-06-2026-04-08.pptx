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274739-BE63-4C67-8E8B-CF4B986A22B2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1A9A54-DB52-4572-AD19-C9E75CCCD267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E6EFE9-58FE-4C83-96FF-027E44BF17C3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E5EB9D-0B44-479B-9241-10AF877E3F36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B87E4-DF43-429D-87F0-D345814D0290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9A16FF-22FA-429A-A5C1-1A8E06780BBD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687953-83F0-4A61-B5CD-90A6CB9631F6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4DA3AE-C604-4338-84FA-A1FD596DC48E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BC554B-2C4C-4188-9B54-DCA3294B1A78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3B823E-AB64-4DC2-9C3D-0AF6CA380402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Clique para editar o título Mestre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os estilos de texto Mestres</a:t>
            </a:r>
            <a:endParaRPr b="0" lang="pt-B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6A9632-C180-4B75-9D44-475AD0CD4500}" type="slidenum">
              <a:rPr b="0" lang="pt-B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Aula 6 - 2026-04-08</a:t>
            </a:r>
            <a:br>
              <a:rPr sz="6000"/>
            </a:br>
            <a:endParaRPr b="1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Variáveis compostas: Listas e Dicionários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452960" y="406440"/>
            <a:ext cx="9143640" cy="9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Listas em Python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1420560"/>
            <a:ext cx="9143640" cy="383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Uma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lista (list)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é uma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estrutura de dados ordenada, mutável e indexada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capaz de armazenar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múltiplos elementos em uma única variável. 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Ela é usada quando você precisa: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Guardar vários valores em sequência;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Iterar sobre elementos;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Modificar dinamicamente os dados;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Representar estruturas como filas, pilhas, tabelas, etc;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40000" y="1440000"/>
            <a:ext cx="9143640" cy="9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Programa com Variáveis Simples – </a:t>
            </a:r>
            <a:br>
              <a:rPr sz="4000"/>
            </a:b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Cadastro de alunos</a:t>
            </a:r>
            <a:endParaRPr b="0" lang="pt-BR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aixaDeTexto 6"/>
          <p:cNvSpPr/>
          <p:nvPr/>
        </p:nvSpPr>
        <p:spPr>
          <a:xfrm>
            <a:off x="171000" y="610560"/>
            <a:ext cx="5439600" cy="54464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Criando variáveis simples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aluno0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 "Ana"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aluno1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 "Bruno"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aluno2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 "Carlos"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"Adicionando" um novo aluno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(precisamos criar nova variável 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aluno3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 "Daniela"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Acessando o dado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"O primeiro aluno é: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aluno0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Exibindo todos (nomeando um por um)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"A lista completa: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aluno0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,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aluno1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,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aluno2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,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aluno3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aixaDeTexto 7"/>
          <p:cNvSpPr/>
          <p:nvPr/>
        </p:nvSpPr>
        <p:spPr>
          <a:xfrm>
            <a:off x="5818680" y="610560"/>
            <a:ext cx="5970600" cy="3210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Memória RAM (início do programa)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+------------+  +------------+  +------------+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|   "Ana"    |  |   "Bruno"  |  |  "Carlos"  |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+------------+  +------------+  +------------+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^                ^              ^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aluno0           aluno1         aluno2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Memória RAM (Estado Final)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+---------+   +---------+   +---------+   +---------+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|  "Ana"  |   | "Bruno" |   |"Carlos" |   |"Daniela"|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+---------+   +---------+   +---------+   +---------+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|             |             |             |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aluno0        aluno1        aluno2        aluno3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CaixaDeTexto 9"/>
          <p:cNvSpPr/>
          <p:nvPr/>
        </p:nvSpPr>
        <p:spPr>
          <a:xfrm>
            <a:off x="5818680" y="3917160"/>
            <a:ext cx="6094080" cy="185544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Saída na tela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O primeiro aluno é: Ana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A lista completa: Ana, Bruno, Carlos, Daniela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440000" y="1440000"/>
            <a:ext cx="9143640" cy="9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Programa com Variáveis Composta: Lista</a:t>
            </a:r>
            <a:br>
              <a:rPr sz="4000"/>
            </a:b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Cadastro de alunos</a:t>
            </a:r>
            <a:endParaRPr b="0" lang="pt-BR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aixaDeTexto 7"/>
          <p:cNvSpPr/>
          <p:nvPr/>
        </p:nvSpPr>
        <p:spPr>
          <a:xfrm>
            <a:off x="5818680" y="610560"/>
            <a:ext cx="5970600" cy="3251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Memória RAM (início do programa)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+-------------------------------------+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alunos  |   [0]    |   [1]    |   [2]    |... |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|     |----------|----------|----------|----|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+---&gt; |  "Ana"   | "Bruno"  | "Carlos" |    |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+-------------------------------------+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Memória RAM (Estado Final)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+------------------------------------------------+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alunos  |   [0]    |   [1]    |   [2]    |   [3]    |... |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|     |----------|----------|----------|----------|----|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+---&gt; |  "Ana"   | "Bruno"  | "Carlos" |"Daniela" |    |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+------------------------------------------------+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CaixaDeTexto 9"/>
          <p:cNvSpPr/>
          <p:nvPr/>
        </p:nvSpPr>
        <p:spPr>
          <a:xfrm>
            <a:off x="5818680" y="3917160"/>
            <a:ext cx="6094080" cy="185544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Saída na tela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O primeiro aluno é: Ana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A lista completa: Ana, Bruno, Carlos, Daniela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CaixaDeTexto 2"/>
          <p:cNvSpPr/>
          <p:nvPr/>
        </p:nvSpPr>
        <p:spPr>
          <a:xfrm>
            <a:off x="0" y="610560"/>
            <a:ext cx="5725800" cy="50806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Criando uma lista de alunos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alunos 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 [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"Ana"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"Bruno"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"Carlos"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]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Adicionando um novo aluno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alunos.append(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"Daniela"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Acessando pelo índice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#(começa na posição ZERO)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"O primeiro aluno é: 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alunos[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0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]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"A lista completa: 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alunos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452960" y="406440"/>
            <a:ext cx="9143640" cy="9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Microsoft YaHei"/>
              </a:rPr>
              <a:t>Dicionários </a:t>
            </a: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em Python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1523880" y="1420560"/>
            <a:ext cx="9143640" cy="383688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dicionário serve para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mapear informações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ou seja,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associar uma chave a um valor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É ideal quando você precisa representar dados com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significado semântico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como: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nome → valor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atributo → conteúdo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identificador → objeto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260000" y="540000"/>
            <a:ext cx="9143640" cy="9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Programa com Variáveis Simples</a:t>
            </a:r>
            <a:br>
              <a:rPr sz="4000"/>
            </a:b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Cadastro de um Produto</a:t>
            </a:r>
            <a:endParaRPr b="0" lang="pt-BR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Subtítulo 1"/>
          <p:cNvSpPr txBox="1"/>
          <p:nvPr/>
        </p:nvSpPr>
        <p:spPr>
          <a:xfrm>
            <a:off x="1440000" y="1620000"/>
            <a:ext cx="9143640" cy="383688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Faça um programa em python que mapei-e em memória: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Código de um Produto;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Nome  do   Produto;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Preço do Produto;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aixaDeTexto 7"/>
          <p:cNvSpPr/>
          <p:nvPr/>
        </p:nvSpPr>
        <p:spPr>
          <a:xfrm>
            <a:off x="5818680" y="610560"/>
            <a:ext cx="5970600" cy="17744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Memória RAM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+------------+  +-----------------------+  +------------+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|    101     |  |  "Teclado Mecânico"   |  |   150.00   |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+------------+  +-----------------------+  +------------+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^                    ^                       ^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produto_id          produto_nome          produto_preco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CaixaDeTexto 9"/>
          <p:cNvSpPr/>
          <p:nvPr/>
        </p:nvSpPr>
        <p:spPr>
          <a:xfrm>
            <a:off x="5818680" y="3917160"/>
            <a:ext cx="6094080" cy="113724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Saída na tela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Produto: Teclado Mecânico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Preço: 150,00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CaixaDeTexto 2"/>
          <p:cNvSpPr/>
          <p:nvPr/>
        </p:nvSpPr>
        <p:spPr>
          <a:xfrm>
            <a:off x="0" y="610560"/>
            <a:ext cx="5626440" cy="43689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--- MODO: VARIÁVEIS SIMPLES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cadastro de um produto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produto_id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 101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produto_nome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 "Teclado Mecânico"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produto_preco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 150.00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Acessando a informação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pelo nome da variável específica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"Produto: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produto_nome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"Preço: R$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produto_preco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440000" y="1440000"/>
            <a:ext cx="9143640" cy="9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Programa com Variáveis Compostas: Dicionário</a:t>
            </a:r>
            <a:br>
              <a:rPr sz="4000"/>
            </a:b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Cadastro de um Produto</a:t>
            </a:r>
            <a:endParaRPr b="0" lang="pt-BR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Subtítulo 3"/>
          <p:cNvSpPr txBox="1"/>
          <p:nvPr/>
        </p:nvSpPr>
        <p:spPr>
          <a:xfrm>
            <a:off x="1440000" y="2463120"/>
            <a:ext cx="9143640" cy="383688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Faça um programa em python que mapei-e em memória: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Código de um Produto;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Nome  do   Produto;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Preço do Produto;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aixaDeTexto 7"/>
          <p:cNvSpPr/>
          <p:nvPr/>
        </p:nvSpPr>
        <p:spPr>
          <a:xfrm>
            <a:off x="5818680" y="610560"/>
            <a:ext cx="5970600" cy="23594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Memória RAM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PRODUTO -- +---------------------------------------+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  | Chave         | Valor                 |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  |---------------|-----------------------|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  | "id"          | 101                   |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  | "nome"        | "Teclado Mecânico"    |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  | "preco"       | 150.00                |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  +---------------------------------------+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aixaDeTexto 9"/>
          <p:cNvSpPr/>
          <p:nvPr/>
        </p:nvSpPr>
        <p:spPr>
          <a:xfrm>
            <a:off x="5818680" y="3475440"/>
            <a:ext cx="6094080" cy="113724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Saída na tela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Produto: Teclado Mecânico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Preço: 150,00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CaixaDeTexto 3"/>
          <p:cNvSpPr/>
          <p:nvPr/>
        </p:nvSpPr>
        <p:spPr>
          <a:xfrm>
            <a:off x="144360" y="610560"/>
            <a:ext cx="5599080" cy="43689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Variável do tipo “Dicionário”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produto 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 {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    "id“   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: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101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    "nome“ 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: 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"Teclado Mecânico"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    "preco"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: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150.00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}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Acessando a informação pela chave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"Produto: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produto[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'nome'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]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8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"Preço: R$ 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produto[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'preco'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]</a:t>
            </a:r>
            <a:r>
              <a:rPr b="0" lang="pt-BR" sz="18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8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8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452960" y="406440"/>
            <a:ext cx="9143640" cy="9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Tuplas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3880" y="1420560"/>
            <a:ext cx="9143640" cy="383688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tipo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tuple (tupla)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em Python é uma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estrutura de dados ordenada, imutável e indexada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utilizada para armazenar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uma coleção de elementos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Diferente da lista (list), a tupla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não pode ser alterada após sua criação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440000" y="1440000"/>
            <a:ext cx="9143640" cy="9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Programa com Variáveis Compostas: Tuplas</a:t>
            </a:r>
            <a:br>
              <a:rPr sz="4000"/>
            </a:b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Cadastro de Coordenadas</a:t>
            </a:r>
            <a:endParaRPr b="0" lang="pt-BR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Subtítulo 4"/>
          <p:cNvSpPr txBox="1"/>
          <p:nvPr/>
        </p:nvSpPr>
        <p:spPr>
          <a:xfrm>
            <a:off x="1440000" y="2463120"/>
            <a:ext cx="9143640" cy="383688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Faça um programa em python que guarde em memória: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Latitude;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Longitude;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As coordenadas guardadas não podem ser alteradas: tem de ser imutáveis;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aixaDeTexto 7"/>
          <p:cNvSpPr/>
          <p:nvPr/>
        </p:nvSpPr>
        <p:spPr>
          <a:xfrm>
            <a:off x="5818680" y="610560"/>
            <a:ext cx="6192720" cy="19591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Memória RAM -- 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Variável tipo TUPLA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COORDENADAS -- +-----------+-----------+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      |   -23.5   |   -46.6   | &lt;--- TENTAR MUDAR = Erro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      +-----------+-----------+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              (Tamanho Fixo e Imutável) 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aixaDeTexto 9"/>
          <p:cNvSpPr/>
          <p:nvPr/>
        </p:nvSpPr>
        <p:spPr>
          <a:xfrm>
            <a:off x="5818680" y="2860200"/>
            <a:ext cx="6094080" cy="329148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Saída na tela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Localização: (-23.5505, -46.6333)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Latitude: -23.5505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coordenadas[0] = -23.0000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IndentationError: unexpected indent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aixaDeTexto 2"/>
          <p:cNvSpPr/>
          <p:nvPr/>
        </p:nvSpPr>
        <p:spPr>
          <a:xfrm>
            <a:off x="64440" y="752400"/>
            <a:ext cx="5483880" cy="543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Criando uma Tupla (Latitude e Longitude)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coordenadas 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 (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-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23.5505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-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46.6333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"Localização: 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coordenadas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6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"Latitude: 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coordenadas[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0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]</a:t>
            </a:r>
            <a:r>
              <a:rPr b="0" lang="pt-BR" sz="16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6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6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TENTANDO ALTERAR 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#(Isso causará um ERRO no cmd.exe)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6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coordenadas[0] = -23.0000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452960" y="406440"/>
            <a:ext cx="9143640" cy="9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Conjuntos (SETs)</a:t>
            </a:r>
            <a:endParaRPr b="0" lang="pt-B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523880" y="1420560"/>
            <a:ext cx="9143640" cy="383688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Para fechar o trio de estruturas de dados essenciais, vamos incluir o Conjunto (set). 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Conjuntos são estruturas de dados semelhantes as filas, porém: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Os dados armazenados dentro deste tipo de variável são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ÚNICOS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;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t-B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440000" y="1440000"/>
            <a:ext cx="9143640" cy="90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Programa com Variáveis Compostas: </a:t>
            </a: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Conjuntos</a:t>
            </a:r>
            <a:br>
              <a:rPr sz="4000"/>
            </a:br>
            <a:r>
              <a:rPr b="0" lang="pt-BR" sz="4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Cadastro de Coordenadas</a:t>
            </a:r>
            <a:endParaRPr b="0" lang="pt-BR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Subtítulo 5"/>
          <p:cNvSpPr txBox="1"/>
          <p:nvPr/>
        </p:nvSpPr>
        <p:spPr>
          <a:xfrm>
            <a:off x="1440000" y="2463120"/>
            <a:ext cx="9143640" cy="3836880"/>
          </a:xfrm>
          <a:prstGeom prst="rect">
            <a:avLst/>
          </a:prstGeom>
          <a:solidFill>
            <a:srgbClr val="ffffd7"/>
          </a:solidFill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Faça um programa em python que guarde em memória: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Nome do aluno(a);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aluno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não pode ter homônimo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Os nomes dos alunos devem ser </a:t>
            </a:r>
            <a:r>
              <a:rPr b="1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únicos</a:t>
            </a: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;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aixaDeTexto 7"/>
          <p:cNvSpPr/>
          <p:nvPr/>
        </p:nvSpPr>
        <p:spPr>
          <a:xfrm>
            <a:off x="5818680" y="610560"/>
            <a:ext cx="6192720" cy="3251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Memória RAM -- 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Variável tipo TUPLA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Variável do tipo lista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 presenca_lista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+-------------------------------------------------------+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| [0]: "Ana" | [1]: "Bruno" | [2]: "Ana" | [3]: "Carlos"|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+-------------------------------------------------------+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</a:t>
            </a: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Variável do tipo conjunto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</a:t>
            </a:r>
            <a:r>
              <a:rPr b="0" lang="pt-BR" sz="14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presenca_set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+-----------------------+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|  "Carlos"    "Ana"    |  &lt;-- "Ana" só entra uma vez.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|      "Bruno"          |  &lt;-- Não existe índice [0].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 +-----------------------+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aixaDeTexto 9"/>
          <p:cNvSpPr/>
          <p:nvPr/>
        </p:nvSpPr>
        <p:spPr>
          <a:xfrm>
            <a:off x="5818680" y="4369320"/>
            <a:ext cx="6094080" cy="1137240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-- Saída na tela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Lista original: Ana, Bruno, Ana, Carlos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12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Roboto Mono"/>
              </a:rPr>
              <a:t>&gt;&gt;&gt; Conjunto único: Ana, Bruno, Carlos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aixaDeTexto 3"/>
          <p:cNvSpPr/>
          <p:nvPr/>
        </p:nvSpPr>
        <p:spPr>
          <a:xfrm>
            <a:off x="97560" y="610560"/>
            <a:ext cx="5645880" cy="50281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pt-BR" sz="12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Uma lista com nomes repetidos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presenca_lista </a:t>
            </a:r>
            <a:r>
              <a:rPr b="0" lang="pt-BR" sz="12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 [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"Ana"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"Bruno"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"Ana"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"Carlos"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"Bruno"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]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pt-BR" sz="1200" strike="noStrike" u="none">
                <a:solidFill>
                  <a:srgbClr val="d81b60"/>
                </a:solidFill>
                <a:effectLst/>
                <a:uFillTx/>
                <a:latin typeface="Roboto Mono"/>
              </a:rPr>
              <a:t># Convertendo para Conjunto (set) para remover duplicatas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presenca_set </a:t>
            </a:r>
            <a:r>
              <a:rPr b="0" lang="pt-BR" sz="12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 {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"Ana"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"Bruno"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"Ana"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"Carlos"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"Bruno"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}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2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"Lista original: </a:t>
            </a:r>
            <a:r>
              <a:rPr b="0" lang="pt-BR" sz="12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presenca_lista</a:t>
            </a:r>
            <a:r>
              <a:rPr b="0" lang="pt-BR" sz="12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print(</a:t>
            </a:r>
            <a:r>
              <a:rPr b="0" lang="pt-BR" sz="1200" strike="noStrike" u="none">
                <a:solidFill>
                  <a:srgbClr val="3f51b5"/>
                </a:solidFill>
                <a:effectLst/>
                <a:uFillTx/>
                <a:latin typeface="Roboto Mono"/>
              </a:rPr>
              <a:t>f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"Conjunto único: </a:t>
            </a:r>
            <a:r>
              <a:rPr b="0" lang="pt-BR" sz="12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{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presenca_set</a:t>
            </a:r>
            <a:r>
              <a:rPr b="0" lang="pt-BR" sz="1200" strike="noStrike" u="none">
                <a:solidFill>
                  <a:srgbClr val="c53929"/>
                </a:solidFill>
                <a:effectLst/>
                <a:uFillTx/>
                <a:latin typeface="Roboto Mono"/>
              </a:rPr>
              <a:t>}</a:t>
            </a:r>
            <a:r>
              <a:rPr b="0" lang="pt-BR" sz="1200" strike="noStrike" u="none">
                <a:solidFill>
                  <a:srgbClr val="388e3c"/>
                </a:solidFill>
                <a:effectLst/>
                <a:uFillTx/>
                <a:latin typeface="Roboto Mono"/>
              </a:rPr>
              <a:t>"</a:t>
            </a:r>
            <a:r>
              <a:rPr b="0" lang="pt-BR" sz="1200" strike="noStrike" u="non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Application>LibreOffice/25.2.7.2$Windows_X86_64 LibreOffice_project/5cbfd1ab6520636bb5f7b99185aa69bd7456825d</Application>
  <AppVersion>15.0000</AppVersion>
  <Words>1075</Words>
  <Paragraphs>191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2026-04-07T02:18:03Z</dcterms:created>
  <dc:creator>Miguel Suarez Xavier Penteado</dc:creator>
  <dc:description/>
  <dc:language>pt-BR</dc:language>
  <cp:lastModifiedBy/>
  <dcterms:modified xsi:type="dcterms:W3CDTF">2026-04-08T15:20:56Z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